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7" r:id="rId3"/>
    <p:sldId id="258" r:id="rId5"/>
    <p:sldId id="264" r:id="rId6"/>
    <p:sldId id="268" r:id="rId7"/>
    <p:sldId id="271" r:id="rId8"/>
    <p:sldId id="274" r:id="rId9"/>
    <p:sldId id="275" r:id="rId10"/>
    <p:sldId id="277" r:id="rId11"/>
    <p:sldId id="279" r:id="rId12"/>
    <p:sldId id="281" r:id="rId13"/>
    <p:sldId id="282" r:id="rId14"/>
    <p:sldId id="283" r:id="rId15"/>
    <p:sldId id="284" r:id="rId16"/>
    <p:sldId id="286" r:id="rId17"/>
    <p:sldId id="28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4504055" y="92710"/>
            <a:ext cx="12908280" cy="6454140"/>
            <a:chOff x="-3071" y="146"/>
            <a:chExt cx="20328" cy="10164"/>
          </a:xfrm>
        </p:grpSpPr>
        <p:pic>
          <p:nvPicPr>
            <p:cNvPr id="16" name="图片 15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93" y="146"/>
              <a:ext cx="10164" cy="10164"/>
            </a:xfrm>
            <a:prstGeom prst="rect">
              <a:avLst/>
            </a:prstGeom>
          </p:spPr>
        </p:pic>
        <p:pic>
          <p:nvPicPr>
            <p:cNvPr id="17" name="图片 16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3071" y="146"/>
              <a:ext cx="10164" cy="10164"/>
            </a:xfrm>
            <a:prstGeom prst="rect">
              <a:avLst/>
            </a:prstGeom>
          </p:spPr>
        </p:pic>
      </p:grpSp>
      <p:sp>
        <p:nvSpPr>
          <p:cNvPr id="14" name="任意多边形 13"/>
          <p:cNvSpPr/>
          <p:nvPr/>
        </p:nvSpPr>
        <p:spPr>
          <a:xfrm>
            <a:off x="0" y="0"/>
            <a:ext cx="13515975" cy="73298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285" h="11543">
                <a:moveTo>
                  <a:pt x="9599" y="2707"/>
                </a:moveTo>
                <a:cubicBezTo>
                  <a:pt x="8089" y="2707"/>
                  <a:pt x="6864" y="3913"/>
                  <a:pt x="6864" y="5400"/>
                </a:cubicBezTo>
                <a:cubicBezTo>
                  <a:pt x="6864" y="6887"/>
                  <a:pt x="8089" y="8093"/>
                  <a:pt x="9599" y="8093"/>
                </a:cubicBezTo>
                <a:cubicBezTo>
                  <a:pt x="11110" y="8093"/>
                  <a:pt x="12335" y="6887"/>
                  <a:pt x="12335" y="5400"/>
                </a:cubicBezTo>
                <a:cubicBezTo>
                  <a:pt x="12335" y="3913"/>
                  <a:pt x="11110" y="2707"/>
                  <a:pt x="9599" y="2707"/>
                </a:cubicBezTo>
                <a:close/>
                <a:moveTo>
                  <a:pt x="0" y="0"/>
                </a:moveTo>
                <a:lnTo>
                  <a:pt x="21285" y="0"/>
                </a:lnTo>
                <a:lnTo>
                  <a:pt x="21285" y="11543"/>
                </a:lnTo>
                <a:lnTo>
                  <a:pt x="0" y="1154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358640" y="1718945"/>
            <a:ext cx="3474085" cy="342011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标题 1"/>
          <p:cNvSpPr>
            <a:spLocks noGrp="1"/>
          </p:cNvSpPr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/>
              <a:t>上周地理复习内容</a:t>
            </a:r>
            <a:br>
              <a:rPr lang="zh-CN" altLang="en-US"/>
            </a:br>
            <a:r>
              <a:rPr lang="zh-CN" altLang="en-US"/>
              <a:t>七年级上期第一章</a:t>
            </a:r>
            <a:endParaRPr lang="zh-CN" altLang="en-US"/>
          </a:p>
          <a:p>
            <a:pPr algn="ctr"/>
            <a:r>
              <a:rPr lang="zh-CN"/>
              <a:t>地球与地图</a:t>
            </a:r>
            <a:endParaRPr lang="zh-CN"/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7448 0.00416667 L -0.0852083 0.005 " pathEditMode="relative" rAng="0" ptsTypes="">
                                      <p:cBhvr>
                                        <p:cTn id="12" dur="2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 animBg="1"/>
      <p:bldP spid="27" grpId="2" bldLvl="0" animBg="1"/>
      <p:bldP spid="47" grpId="0"/>
      <p:bldP spid="4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 rot="0">
            <a:off x="-6365875" y="-1537335"/>
            <a:ext cx="19362420" cy="9682480"/>
            <a:chOff x="-3071" y="146"/>
            <a:chExt cx="20328" cy="10164"/>
          </a:xfrm>
        </p:grpSpPr>
        <p:pic>
          <p:nvPicPr>
            <p:cNvPr id="16" name="图片 15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93" y="146"/>
              <a:ext cx="10164" cy="10164"/>
            </a:xfrm>
            <a:prstGeom prst="rect">
              <a:avLst/>
            </a:prstGeom>
          </p:spPr>
        </p:pic>
        <p:pic>
          <p:nvPicPr>
            <p:cNvPr id="17" name="图片 16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3071" y="146"/>
              <a:ext cx="10164" cy="10164"/>
            </a:xfrm>
            <a:prstGeom prst="rect">
              <a:avLst/>
            </a:prstGeom>
          </p:spPr>
        </p:pic>
      </p:grpSp>
      <p:sp>
        <p:nvSpPr>
          <p:cNvPr id="6" name="任意多边形 5"/>
          <p:cNvSpPr/>
          <p:nvPr/>
        </p:nvSpPr>
        <p:spPr>
          <a:xfrm>
            <a:off x="-6322060" y="-1697990"/>
            <a:ext cx="20433665" cy="110661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285" h="11543">
                <a:moveTo>
                  <a:pt x="9599" y="2707"/>
                </a:moveTo>
                <a:cubicBezTo>
                  <a:pt x="8089" y="2707"/>
                  <a:pt x="6864" y="3913"/>
                  <a:pt x="6864" y="5400"/>
                </a:cubicBezTo>
                <a:cubicBezTo>
                  <a:pt x="6864" y="6887"/>
                  <a:pt x="8089" y="8093"/>
                  <a:pt x="9599" y="8093"/>
                </a:cubicBezTo>
                <a:cubicBezTo>
                  <a:pt x="11110" y="8093"/>
                  <a:pt x="12335" y="6887"/>
                  <a:pt x="12335" y="5400"/>
                </a:cubicBezTo>
                <a:cubicBezTo>
                  <a:pt x="12335" y="3913"/>
                  <a:pt x="11110" y="2707"/>
                  <a:pt x="9599" y="2707"/>
                </a:cubicBezTo>
                <a:close/>
                <a:moveTo>
                  <a:pt x="0" y="0"/>
                </a:moveTo>
                <a:lnTo>
                  <a:pt x="21285" y="0"/>
                </a:lnTo>
                <a:lnTo>
                  <a:pt x="21285" y="11543"/>
                </a:lnTo>
                <a:lnTo>
                  <a:pt x="0" y="1154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291465" y="902335"/>
            <a:ext cx="5210810" cy="51308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弧形 10"/>
          <p:cNvSpPr/>
          <p:nvPr/>
        </p:nvSpPr>
        <p:spPr>
          <a:xfrm rot="10800000" flipV="1">
            <a:off x="291465" y="2839720"/>
            <a:ext cx="5208905" cy="1345565"/>
          </a:xfrm>
          <a:prstGeom prst="arc">
            <a:avLst>
              <a:gd name="adj1" fmla="val 10875240"/>
              <a:gd name="adj2" fmla="val 98892"/>
            </a:avLst>
          </a:prstGeom>
          <a:ln w="38100" cap="flat" cmpd="sng" algn="ctr">
            <a:solidFill>
              <a:schemeClr val="tx1">
                <a:alpha val="30000"/>
              </a:schemeClr>
            </a:solidFill>
            <a:prstDash val="dash"/>
            <a:miter lim="800000"/>
            <a:headEnd type="none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2757170" y="902970"/>
            <a:ext cx="2742565" cy="2469515"/>
          </a:xfrm>
          <a:custGeom>
            <a:avLst/>
            <a:gdLst>
              <a:gd name="it" fmla="*/ h 7 12"/>
              <a:gd name="ir" fmla="*/ w 7 12"/>
              <a:gd name="ib" fmla="*/ h 11 12"/>
            </a:gdLst>
            <a:ahLst/>
            <a:cxnLst>
              <a:cxn ang="3">
                <a:pos x="l" y="t"/>
              </a:cxn>
              <a:cxn ang="cd2">
                <a:pos x="l" y="vc"/>
              </a:cxn>
              <a:cxn ang="cd4">
                <a:pos x="l" y="b"/>
              </a:cxn>
              <a:cxn ang="cd4">
                <a:pos x="hc" y="b"/>
              </a:cxn>
              <a:cxn ang="cd4">
                <a:pos x="r" y="b"/>
              </a:cxn>
              <a:cxn ang="0">
                <a:pos x="hc" y="vc"/>
              </a:cxn>
            </a:cxnLst>
            <a:rect l="l" t="t" r="r" b="b"/>
            <a:pathLst>
              <a:path w="2880" h="2592">
                <a:moveTo>
                  <a:pt x="146" y="0"/>
                </a:moveTo>
                <a:cubicBezTo>
                  <a:pt x="1621" y="0"/>
                  <a:pt x="2824" y="1150"/>
                  <a:pt x="2879" y="2589"/>
                </a:cubicBezTo>
                <a:lnTo>
                  <a:pt x="2880" y="2592"/>
                </a:lnTo>
                <a:lnTo>
                  <a:pt x="0" y="2592"/>
                </a:lnTo>
                <a:lnTo>
                  <a:pt x="0" y="4"/>
                </a:lnTo>
                <a:lnTo>
                  <a:pt x="5" y="4"/>
                </a:lnTo>
                <a:cubicBezTo>
                  <a:pt x="52" y="1"/>
                  <a:pt x="99" y="0"/>
                  <a:pt x="146" y="0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2078990" y="902335"/>
            <a:ext cx="746760" cy="3167380"/>
          </a:xfrm>
          <a:custGeom>
            <a:avLst/>
            <a:gdLst>
              <a:gd name="connsiteX0" fmla="*/ 24 w 784"/>
              <a:gd name="connsiteY0" fmla="*/ 3281 h 3324"/>
              <a:gd name="connsiteX1" fmla="*/ 0 w 784"/>
              <a:gd name="connsiteY1" fmla="*/ 3297 h 3324"/>
              <a:gd name="connsiteX2" fmla="*/ 784 w 784"/>
              <a:gd name="connsiteY2" fmla="*/ 0 h 3324"/>
              <a:gd name="connsiteX3" fmla="*/ 752 w 784"/>
              <a:gd name="connsiteY3" fmla="*/ 2584 h 3324"/>
              <a:gd name="connsiteX4" fmla="*/ 24 w 784"/>
              <a:gd name="connsiteY4" fmla="*/ 3281 h 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" h="3325">
                <a:moveTo>
                  <a:pt x="24" y="3281"/>
                </a:moveTo>
                <a:cubicBezTo>
                  <a:pt x="19" y="3181"/>
                  <a:pt x="0" y="3399"/>
                  <a:pt x="0" y="3297"/>
                </a:cubicBezTo>
                <a:cubicBezTo>
                  <a:pt x="0" y="1833"/>
                  <a:pt x="193" y="37"/>
                  <a:pt x="784" y="0"/>
                </a:cubicBezTo>
                <a:lnTo>
                  <a:pt x="752" y="2584"/>
                </a:lnTo>
                <a:lnTo>
                  <a:pt x="24" y="3281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5400000" flipH="1">
            <a:off x="3388995" y="1948815"/>
            <a:ext cx="746760" cy="3471545"/>
          </a:xfrm>
          <a:custGeom>
            <a:avLst/>
            <a:gdLst>
              <a:gd name="connsiteX0" fmla="*/ 24 w 784"/>
              <a:gd name="connsiteY0" fmla="*/ 3670 h 3724"/>
              <a:gd name="connsiteX1" fmla="*/ 0 w 784"/>
              <a:gd name="connsiteY1" fmla="*/ 3694 h 3724"/>
              <a:gd name="connsiteX2" fmla="*/ 784 w 784"/>
              <a:gd name="connsiteY2" fmla="*/ 0 h 3724"/>
              <a:gd name="connsiteX3" fmla="*/ 752 w 784"/>
              <a:gd name="connsiteY3" fmla="*/ 2883 h 3724"/>
              <a:gd name="connsiteX4" fmla="*/ 24 w 784"/>
              <a:gd name="connsiteY4" fmla="*/ 3670 h 3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" h="3725">
                <a:moveTo>
                  <a:pt x="24" y="3670"/>
                </a:moveTo>
                <a:cubicBezTo>
                  <a:pt x="19" y="3558"/>
                  <a:pt x="0" y="3808"/>
                  <a:pt x="0" y="3694"/>
                </a:cubicBezTo>
                <a:cubicBezTo>
                  <a:pt x="0" y="2060"/>
                  <a:pt x="196" y="41"/>
                  <a:pt x="784" y="0"/>
                </a:cubicBezTo>
                <a:lnTo>
                  <a:pt x="752" y="2883"/>
                </a:lnTo>
                <a:lnTo>
                  <a:pt x="24" y="3670"/>
                </a:ln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弧形 9"/>
          <p:cNvSpPr/>
          <p:nvPr/>
        </p:nvSpPr>
        <p:spPr>
          <a:xfrm rot="10800000">
            <a:off x="290195" y="2712720"/>
            <a:ext cx="5208905" cy="1586865"/>
          </a:xfrm>
          <a:prstGeom prst="arc">
            <a:avLst>
              <a:gd name="adj1" fmla="val 10875240"/>
              <a:gd name="adj2" fmla="val 98892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stCxn id="5" idx="3"/>
          </p:cNvCxnSpPr>
          <p:nvPr/>
        </p:nvCxnSpPr>
        <p:spPr>
          <a:xfrm flipV="1">
            <a:off x="2811145" y="1473835"/>
            <a:ext cx="1723390" cy="18681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 rot="18720000">
            <a:off x="2734310" y="2225675"/>
            <a:ext cx="2419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地球平均半径</a:t>
            </a:r>
            <a:endParaRPr lang="zh-CN" altLang="en-US" sz="2800" b="1"/>
          </a:p>
        </p:txBody>
      </p:sp>
      <p:sp>
        <p:nvSpPr>
          <p:cNvPr id="20" name="文本框 19"/>
          <p:cNvSpPr txBox="1"/>
          <p:nvPr/>
        </p:nvSpPr>
        <p:spPr>
          <a:xfrm>
            <a:off x="2078990" y="4299585"/>
            <a:ext cx="1804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赤道周长</a:t>
            </a:r>
            <a:endParaRPr lang="zh-CN" altLang="en-US" sz="2800" b="1"/>
          </a:p>
        </p:txBody>
      </p:sp>
      <p:sp>
        <p:nvSpPr>
          <p:cNvPr id="21" name="文本框 20"/>
          <p:cNvSpPr txBox="1"/>
          <p:nvPr/>
        </p:nvSpPr>
        <p:spPr>
          <a:xfrm>
            <a:off x="6252845" y="-635"/>
            <a:ext cx="6590030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/>
          </a:p>
          <a:p>
            <a:endParaRPr lang="zh-CN" altLang="en-US" sz="3200"/>
          </a:p>
          <a:p>
            <a:endParaRPr lang="zh-CN" altLang="en-US" sz="3200"/>
          </a:p>
          <a:p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地球的</a:t>
            </a:r>
            <a:endParaRPr lang="zh-CN" altLang="en-US" sz="3200"/>
          </a:p>
          <a:p>
            <a:r>
              <a:rPr lang="zh-CN" altLang="en-US" sz="3200"/>
              <a:t>平均</a:t>
            </a:r>
            <a:r>
              <a:rPr lang="zh-CN" altLang="en-US" sz="3200" b="1"/>
              <a:t>半径</a:t>
            </a:r>
            <a:r>
              <a:rPr lang="zh-CN" altLang="en-US" sz="3200"/>
              <a:t>约为</a:t>
            </a:r>
            <a:r>
              <a:rPr lang="en-US" altLang="zh-CN" sz="3200" u="sng"/>
              <a:t>   </a:t>
            </a:r>
            <a:r>
              <a:rPr lang="zh-CN" altLang="en-US" sz="3200" u="sng"/>
              <a:t>（</a:t>
            </a:r>
            <a:r>
              <a:rPr lang="en-US" altLang="zh-CN" sz="3200" u="sng"/>
              <a:t>1</a:t>
            </a:r>
            <a:r>
              <a:rPr lang="zh-CN" altLang="en-US" sz="3200" u="sng"/>
              <a:t>）</a:t>
            </a:r>
            <a:r>
              <a:rPr lang="en-US" altLang="zh-CN" sz="3200" u="sng"/>
              <a:t>   </a:t>
            </a:r>
            <a:r>
              <a:rPr lang="zh-CN" altLang="en-US" sz="3200"/>
              <a:t>千米；</a:t>
            </a:r>
            <a:endParaRPr lang="zh-CN" altLang="en-US" sz="3200"/>
          </a:p>
          <a:p>
            <a:r>
              <a:rPr lang="zh-CN" altLang="en-US" sz="3200" b="1"/>
              <a:t>周长</a:t>
            </a:r>
            <a:r>
              <a:rPr lang="zh-CN" altLang="en-US" sz="3200"/>
              <a:t>约为</a:t>
            </a:r>
            <a:r>
              <a:rPr lang="en-US" altLang="zh-CN" sz="3200" u="sng"/>
              <a:t>   </a:t>
            </a:r>
            <a:r>
              <a:rPr lang="zh-CN" altLang="en-US" sz="3200" u="sng"/>
              <a:t>（</a:t>
            </a:r>
            <a:r>
              <a:rPr lang="en-US" altLang="zh-CN" sz="3200" u="sng"/>
              <a:t>2</a:t>
            </a:r>
            <a:r>
              <a:rPr lang="zh-CN" altLang="en-US" sz="3200" u="sng"/>
              <a:t>）</a:t>
            </a:r>
            <a:r>
              <a:rPr lang="en-US" altLang="zh-CN" sz="3200" u="sng"/>
              <a:t>   </a:t>
            </a:r>
            <a:r>
              <a:rPr lang="zh-CN" altLang="en-US" sz="3200"/>
              <a:t>千米；</a:t>
            </a:r>
            <a:endParaRPr lang="zh-CN" altLang="en-US" sz="3200"/>
          </a:p>
          <a:p>
            <a:r>
              <a:rPr lang="zh-CN" altLang="en-US" sz="3200" b="1"/>
              <a:t>表面积</a:t>
            </a:r>
            <a:r>
              <a:rPr lang="zh-CN" altLang="en-US" sz="3200"/>
              <a:t>约为</a:t>
            </a:r>
            <a:r>
              <a:rPr lang="en-US" altLang="zh-CN" sz="3200" u="sng"/>
              <a:t>   </a:t>
            </a:r>
            <a:r>
              <a:rPr lang="zh-CN" altLang="en-US" sz="3200" u="sng"/>
              <a:t>（</a:t>
            </a:r>
            <a:r>
              <a:rPr lang="en-US" altLang="zh-CN" sz="3200" u="sng"/>
              <a:t>3</a:t>
            </a:r>
            <a:r>
              <a:rPr lang="zh-CN" altLang="en-US" sz="3200" u="sng"/>
              <a:t>）</a:t>
            </a:r>
            <a:r>
              <a:rPr lang="en-US" altLang="zh-CN" sz="3200" u="sng"/>
              <a:t>   </a:t>
            </a:r>
            <a:r>
              <a:rPr lang="zh-CN" altLang="en-US" sz="3200"/>
              <a:t>平方千米。</a:t>
            </a:r>
            <a:endParaRPr lang="en-US" altLang="zh-CN" sz="3200" u="sng"/>
          </a:p>
          <a:p>
            <a:endParaRPr lang="en-US" altLang="zh-CN" sz="3200"/>
          </a:p>
        </p:txBody>
      </p:sp>
      <p:sp>
        <p:nvSpPr>
          <p:cNvPr id="22" name="文本框 21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第一节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地球与地球仪（地球的模型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地球仪）</a:t>
            </a:r>
            <a:endParaRPr lang="zh-CN" altLang="en-US" sz="3200">
              <a:latin typeface="+mj-ea"/>
              <a:ea typeface="+mj-ea"/>
              <a:cs typeface="+mj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4" grpId="0" animBg="1"/>
      <p:bldP spid="4" grpId="1" animBg="1"/>
      <p:bldP spid="10" grpId="0" animBg="1"/>
      <p:bldP spid="10" grpId="1" animBg="1"/>
      <p:bldP spid="11" grpId="0" animBg="1"/>
      <p:bldP spid="11" grpId="1" animBg="1"/>
      <p:bldP spid="20" grpId="0"/>
      <p:bldP spid="20" grpId="1"/>
      <p:bldP spid="15" grpId="0"/>
      <p:bldP spid="15" grpId="1"/>
      <p:bldP spid="21" grpId="1"/>
      <p:bldP spid="22" grpId="1"/>
      <p:bldP spid="47" grpId="0"/>
      <p:bldP spid="4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文本框 62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latin typeface="+mj-ea"/>
                <a:ea typeface="+mj-ea"/>
                <a:cs typeface="+mj-ea"/>
              </a:rPr>
              <a:t>                              </a:t>
            </a:r>
            <a:r>
              <a:rPr lang="zh-CN" altLang="en-US" sz="3200">
                <a:latin typeface="+mj-ea"/>
                <a:ea typeface="+mj-ea"/>
                <a:cs typeface="+mj-ea"/>
              </a:rPr>
              <a:t>第一节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地球与地球仪（地球仪上的经纬网）</a:t>
            </a:r>
            <a:endParaRPr lang="en-US" altLang="zh-CN" sz="3200">
              <a:latin typeface="+mj-ea"/>
              <a:ea typeface="+mj-ea"/>
              <a:cs typeface="+mj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04800" y="3543935"/>
            <a:ext cx="3157855" cy="3100705"/>
          </a:xfrm>
          <a:prstGeom prst="ellipse">
            <a:avLst/>
          </a:prstGeom>
          <a:solidFill>
            <a:srgbClr val="00B0F0"/>
          </a:solidFill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317500" y="3543935"/>
            <a:ext cx="3157855" cy="310070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04800" y="186055"/>
            <a:ext cx="3157855" cy="310070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292100" y="186055"/>
            <a:ext cx="3157855" cy="310070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1135123" y="366395"/>
            <a:ext cx="1538500" cy="448358"/>
          </a:xfrm>
          <a:custGeom>
            <a:avLst/>
            <a:gdLst>
              <a:gd name="connsiteX0" fmla="*/ 7 w 2422"/>
              <a:gd name="connsiteY0" fmla="*/ 0 h 706"/>
              <a:gd name="connsiteX1" fmla="*/ 1 w 2422"/>
              <a:gd name="connsiteY1" fmla="*/ 122 h 706"/>
              <a:gd name="connsiteX2" fmla="*/ 20 w 2422"/>
              <a:gd name="connsiteY2" fmla="*/ 276 h 706"/>
              <a:gd name="connsiteX3" fmla="*/ 161 w 2422"/>
              <a:gd name="connsiteY3" fmla="*/ 468 h 706"/>
              <a:gd name="connsiteX4" fmla="*/ 457 w 2422"/>
              <a:gd name="connsiteY4" fmla="*/ 603 h 706"/>
              <a:gd name="connsiteX5" fmla="*/ 803 w 2422"/>
              <a:gd name="connsiteY5" fmla="*/ 674 h 706"/>
              <a:gd name="connsiteX6" fmla="*/ 1201 w 2422"/>
              <a:gd name="connsiteY6" fmla="*/ 706 h 706"/>
              <a:gd name="connsiteX7" fmla="*/ 1644 w 2422"/>
              <a:gd name="connsiteY7" fmla="*/ 680 h 706"/>
              <a:gd name="connsiteX8" fmla="*/ 1990 w 2422"/>
              <a:gd name="connsiteY8" fmla="*/ 616 h 706"/>
              <a:gd name="connsiteX9" fmla="*/ 2253 w 2422"/>
              <a:gd name="connsiteY9" fmla="*/ 494 h 706"/>
              <a:gd name="connsiteX10" fmla="*/ 2382 w 2422"/>
              <a:gd name="connsiteY10" fmla="*/ 321 h 706"/>
              <a:gd name="connsiteX11" fmla="*/ 2420 w 2422"/>
              <a:gd name="connsiteY11" fmla="*/ 160 h 706"/>
              <a:gd name="connsiteX12" fmla="*/ 2419 w 2422"/>
              <a:gd name="connsiteY12" fmla="*/ 113 h 706"/>
              <a:gd name="connsiteX13" fmla="*/ 2420 w 2422"/>
              <a:gd name="connsiteY13" fmla="*/ 32 h 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3" h="706">
                <a:moveTo>
                  <a:pt x="7" y="0"/>
                </a:moveTo>
                <a:cubicBezTo>
                  <a:pt x="5" y="21"/>
                  <a:pt x="-2" y="67"/>
                  <a:pt x="1" y="122"/>
                </a:cubicBezTo>
                <a:cubicBezTo>
                  <a:pt x="4" y="177"/>
                  <a:pt x="-12" y="207"/>
                  <a:pt x="20" y="276"/>
                </a:cubicBezTo>
                <a:cubicBezTo>
                  <a:pt x="52" y="345"/>
                  <a:pt x="74" y="403"/>
                  <a:pt x="161" y="468"/>
                </a:cubicBezTo>
                <a:cubicBezTo>
                  <a:pt x="248" y="533"/>
                  <a:pt x="329" y="562"/>
                  <a:pt x="457" y="603"/>
                </a:cubicBezTo>
                <a:cubicBezTo>
                  <a:pt x="585" y="644"/>
                  <a:pt x="654" y="653"/>
                  <a:pt x="803" y="674"/>
                </a:cubicBezTo>
                <a:cubicBezTo>
                  <a:pt x="952" y="695"/>
                  <a:pt x="1033" y="705"/>
                  <a:pt x="1201" y="706"/>
                </a:cubicBezTo>
                <a:cubicBezTo>
                  <a:pt x="1369" y="707"/>
                  <a:pt x="1486" y="698"/>
                  <a:pt x="1644" y="680"/>
                </a:cubicBezTo>
                <a:cubicBezTo>
                  <a:pt x="1802" y="662"/>
                  <a:pt x="1868" y="653"/>
                  <a:pt x="1990" y="616"/>
                </a:cubicBezTo>
                <a:cubicBezTo>
                  <a:pt x="2112" y="579"/>
                  <a:pt x="2175" y="553"/>
                  <a:pt x="2253" y="494"/>
                </a:cubicBezTo>
                <a:cubicBezTo>
                  <a:pt x="2331" y="435"/>
                  <a:pt x="2349" y="388"/>
                  <a:pt x="2382" y="321"/>
                </a:cubicBezTo>
                <a:cubicBezTo>
                  <a:pt x="2415" y="254"/>
                  <a:pt x="2412" y="218"/>
                  <a:pt x="2420" y="160"/>
                </a:cubicBezTo>
                <a:cubicBezTo>
                  <a:pt x="2426" y="125"/>
                  <a:pt x="2419" y="134"/>
                  <a:pt x="2419" y="113"/>
                </a:cubicBezTo>
                <a:cubicBezTo>
                  <a:pt x="2419" y="92"/>
                  <a:pt x="2420" y="46"/>
                  <a:pt x="2420" y="32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740410" y="635635"/>
            <a:ext cx="2382520" cy="659130"/>
          </a:xfrm>
          <a:custGeom>
            <a:avLst/>
            <a:gdLst>
              <a:gd name="connisteX0" fmla="*/ 31465 w 2382308"/>
              <a:gd name="connsiteY0" fmla="*/ 0 h 659384"/>
              <a:gd name="connisteX1" fmla="*/ 4795 w 2382308"/>
              <a:gd name="connsiteY1" fmla="*/ 230505 h 659384"/>
              <a:gd name="connisteX2" fmla="*/ 121000 w 2382308"/>
              <a:gd name="connsiteY2" fmla="*/ 422910 h 659384"/>
              <a:gd name="connisteX3" fmla="*/ 395320 w 2382308"/>
              <a:gd name="connsiteY3" fmla="*/ 556260 h 659384"/>
              <a:gd name="connisteX4" fmla="*/ 761080 w 2382308"/>
              <a:gd name="connsiteY4" fmla="*/ 626745 h 659384"/>
              <a:gd name="connisteX5" fmla="*/ 1161130 w 2382308"/>
              <a:gd name="connsiteY5" fmla="*/ 659130 h 659384"/>
              <a:gd name="connisteX6" fmla="*/ 1555465 w 2382308"/>
              <a:gd name="connsiteY6" fmla="*/ 636270 h 659384"/>
              <a:gd name="connisteX7" fmla="*/ 1926940 w 2382308"/>
              <a:gd name="connsiteY7" fmla="*/ 579120 h 659384"/>
              <a:gd name="connisteX8" fmla="*/ 2186020 w 2382308"/>
              <a:gd name="connsiteY8" fmla="*/ 474345 h 659384"/>
              <a:gd name="connisteX9" fmla="*/ 2328895 w 2382308"/>
              <a:gd name="connsiteY9" fmla="*/ 327660 h 659384"/>
              <a:gd name="connisteX10" fmla="*/ 2382235 w 2382308"/>
              <a:gd name="connsiteY10" fmla="*/ 144780 h 659384"/>
              <a:gd name="connisteX11" fmla="*/ 2323180 w 2382308"/>
              <a:gd name="connsiteY11" fmla="*/ 190500 h 65938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2382308" h="659385">
                <a:moveTo>
                  <a:pt x="31465" y="0"/>
                </a:moveTo>
                <a:cubicBezTo>
                  <a:pt x="23845" y="42545"/>
                  <a:pt x="-12985" y="146050"/>
                  <a:pt x="4795" y="230505"/>
                </a:cubicBezTo>
                <a:cubicBezTo>
                  <a:pt x="22575" y="314960"/>
                  <a:pt x="42895" y="357505"/>
                  <a:pt x="121000" y="422910"/>
                </a:cubicBezTo>
                <a:cubicBezTo>
                  <a:pt x="199105" y="488315"/>
                  <a:pt x="267050" y="515620"/>
                  <a:pt x="395320" y="556260"/>
                </a:cubicBezTo>
                <a:cubicBezTo>
                  <a:pt x="523590" y="596900"/>
                  <a:pt x="608045" y="606425"/>
                  <a:pt x="761080" y="626745"/>
                </a:cubicBezTo>
                <a:cubicBezTo>
                  <a:pt x="914115" y="647065"/>
                  <a:pt x="1002380" y="657225"/>
                  <a:pt x="1161130" y="659130"/>
                </a:cubicBezTo>
                <a:cubicBezTo>
                  <a:pt x="1319880" y="661035"/>
                  <a:pt x="1402430" y="652145"/>
                  <a:pt x="1555465" y="636270"/>
                </a:cubicBezTo>
                <a:cubicBezTo>
                  <a:pt x="1708500" y="620395"/>
                  <a:pt x="1800575" y="611505"/>
                  <a:pt x="1926940" y="579120"/>
                </a:cubicBezTo>
                <a:cubicBezTo>
                  <a:pt x="2053305" y="546735"/>
                  <a:pt x="2105375" y="524510"/>
                  <a:pt x="2186020" y="474345"/>
                </a:cubicBezTo>
                <a:cubicBezTo>
                  <a:pt x="2266665" y="424180"/>
                  <a:pt x="2289525" y="393700"/>
                  <a:pt x="2328895" y="327660"/>
                </a:cubicBezTo>
                <a:cubicBezTo>
                  <a:pt x="2368265" y="261620"/>
                  <a:pt x="2383505" y="172085"/>
                  <a:pt x="2382235" y="144780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424180" y="1169670"/>
            <a:ext cx="2957195" cy="657860"/>
          </a:xfrm>
          <a:custGeom>
            <a:avLst/>
            <a:gdLst>
              <a:gd name="connisteX0" fmla="*/ 0 w 2957464"/>
              <a:gd name="connsiteY0" fmla="*/ 0 h 657554"/>
              <a:gd name="connisteX1" fmla="*/ 43815 w 2957464"/>
              <a:gd name="connsiteY1" fmla="*/ 120015 h 657554"/>
              <a:gd name="connisteX2" fmla="*/ 201930 w 2957464"/>
              <a:gd name="connsiteY2" fmla="*/ 354330 h 657554"/>
              <a:gd name="connisteX3" fmla="*/ 518160 w 2957464"/>
              <a:gd name="connsiteY3" fmla="*/ 529590 h 657554"/>
              <a:gd name="connisteX4" fmla="*/ 977265 w 2957464"/>
              <a:gd name="connsiteY4" fmla="*/ 619125 h 657554"/>
              <a:gd name="connisteX5" fmla="*/ 1466850 w 2957464"/>
              <a:gd name="connsiteY5" fmla="*/ 653415 h 657554"/>
              <a:gd name="connisteX6" fmla="*/ 1946910 w 2957464"/>
              <a:gd name="connsiteY6" fmla="*/ 645795 h 657554"/>
              <a:gd name="connisteX7" fmla="*/ 2390775 w 2957464"/>
              <a:gd name="connsiteY7" fmla="*/ 573405 h 657554"/>
              <a:gd name="connisteX8" fmla="*/ 2714625 w 2957464"/>
              <a:gd name="connsiteY8" fmla="*/ 436245 h 657554"/>
              <a:gd name="connisteX9" fmla="*/ 2897505 w 2957464"/>
              <a:gd name="connsiteY9" fmla="*/ 251460 h 657554"/>
              <a:gd name="connisteX10" fmla="*/ 2956560 w 2957464"/>
              <a:gd name="connsiteY10" fmla="*/ 116205 h 657554"/>
              <a:gd name="connisteX11" fmla="*/ 2870835 w 2957464"/>
              <a:gd name="connsiteY11" fmla="*/ 280035 h 6575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2957464" h="657554">
                <a:moveTo>
                  <a:pt x="0" y="0"/>
                </a:moveTo>
                <a:cubicBezTo>
                  <a:pt x="5715" y="19050"/>
                  <a:pt x="3175" y="48895"/>
                  <a:pt x="43815" y="120015"/>
                </a:cubicBezTo>
                <a:cubicBezTo>
                  <a:pt x="84455" y="191135"/>
                  <a:pt x="107315" y="272415"/>
                  <a:pt x="201930" y="354330"/>
                </a:cubicBezTo>
                <a:cubicBezTo>
                  <a:pt x="296545" y="436245"/>
                  <a:pt x="363220" y="476885"/>
                  <a:pt x="518160" y="529590"/>
                </a:cubicBezTo>
                <a:cubicBezTo>
                  <a:pt x="673100" y="582295"/>
                  <a:pt x="787400" y="594360"/>
                  <a:pt x="977265" y="619125"/>
                </a:cubicBezTo>
                <a:cubicBezTo>
                  <a:pt x="1167130" y="643890"/>
                  <a:pt x="1273175" y="648335"/>
                  <a:pt x="1466850" y="653415"/>
                </a:cubicBezTo>
                <a:cubicBezTo>
                  <a:pt x="1660525" y="658495"/>
                  <a:pt x="1762125" y="661670"/>
                  <a:pt x="1946910" y="645795"/>
                </a:cubicBezTo>
                <a:cubicBezTo>
                  <a:pt x="2131695" y="629920"/>
                  <a:pt x="2237105" y="615315"/>
                  <a:pt x="2390775" y="573405"/>
                </a:cubicBezTo>
                <a:cubicBezTo>
                  <a:pt x="2544445" y="531495"/>
                  <a:pt x="2613025" y="500380"/>
                  <a:pt x="2714625" y="436245"/>
                </a:cubicBezTo>
                <a:cubicBezTo>
                  <a:pt x="2816225" y="372110"/>
                  <a:pt x="2849245" y="315595"/>
                  <a:pt x="2897505" y="251460"/>
                </a:cubicBezTo>
                <a:cubicBezTo>
                  <a:pt x="2945765" y="187325"/>
                  <a:pt x="2961640" y="110490"/>
                  <a:pt x="2956560" y="116205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317500" y="1726565"/>
            <a:ext cx="3120390" cy="637965"/>
          </a:xfrm>
          <a:custGeom>
            <a:avLst/>
            <a:gdLst>
              <a:gd name="connsiteX0" fmla="*/ 0 w 4914"/>
              <a:gd name="connsiteY0" fmla="*/ 0 h 1004"/>
              <a:gd name="connsiteX1" fmla="*/ 375 w 4914"/>
              <a:gd name="connsiteY1" fmla="*/ 450 h 1004"/>
              <a:gd name="connsiteX2" fmla="*/ 903 w 4914"/>
              <a:gd name="connsiteY2" fmla="*/ 732 h 1004"/>
              <a:gd name="connsiteX3" fmla="*/ 1629 w 4914"/>
              <a:gd name="connsiteY3" fmla="*/ 909 h 1004"/>
              <a:gd name="connsiteX4" fmla="*/ 2472 w 4914"/>
              <a:gd name="connsiteY4" fmla="*/ 1002 h 1004"/>
              <a:gd name="connsiteX5" fmla="*/ 3267 w 4914"/>
              <a:gd name="connsiteY5" fmla="*/ 960 h 1004"/>
              <a:gd name="connsiteX6" fmla="*/ 4008 w 4914"/>
              <a:gd name="connsiteY6" fmla="*/ 837 h 1004"/>
              <a:gd name="connsiteX7" fmla="*/ 4557 w 4914"/>
              <a:gd name="connsiteY7" fmla="*/ 588 h 1004"/>
              <a:gd name="connsiteX8" fmla="*/ 4832 w 4914"/>
              <a:gd name="connsiteY8" fmla="*/ 356 h 1004"/>
              <a:gd name="connsiteX9" fmla="*/ 4914 w 4914"/>
              <a:gd name="connsiteY9" fmla="*/ 276 h 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14" h="1005">
                <a:moveTo>
                  <a:pt x="0" y="0"/>
                </a:moveTo>
                <a:cubicBezTo>
                  <a:pt x="64" y="84"/>
                  <a:pt x="194" y="304"/>
                  <a:pt x="375" y="450"/>
                </a:cubicBezTo>
                <a:cubicBezTo>
                  <a:pt x="556" y="596"/>
                  <a:pt x="652" y="640"/>
                  <a:pt x="903" y="732"/>
                </a:cubicBezTo>
                <a:cubicBezTo>
                  <a:pt x="1154" y="824"/>
                  <a:pt x="1315" y="855"/>
                  <a:pt x="1629" y="909"/>
                </a:cubicBezTo>
                <a:cubicBezTo>
                  <a:pt x="1943" y="963"/>
                  <a:pt x="2144" y="992"/>
                  <a:pt x="2472" y="1002"/>
                </a:cubicBezTo>
                <a:cubicBezTo>
                  <a:pt x="2800" y="1012"/>
                  <a:pt x="2960" y="993"/>
                  <a:pt x="3267" y="960"/>
                </a:cubicBezTo>
                <a:cubicBezTo>
                  <a:pt x="3574" y="927"/>
                  <a:pt x="3750" y="911"/>
                  <a:pt x="4008" y="837"/>
                </a:cubicBezTo>
                <a:cubicBezTo>
                  <a:pt x="4266" y="763"/>
                  <a:pt x="4376" y="700"/>
                  <a:pt x="4557" y="588"/>
                </a:cubicBezTo>
                <a:cubicBezTo>
                  <a:pt x="4694" y="508"/>
                  <a:pt x="4773" y="408"/>
                  <a:pt x="4832" y="356"/>
                </a:cubicBezTo>
                <a:cubicBezTo>
                  <a:pt x="4892" y="304"/>
                  <a:pt x="4900" y="289"/>
                  <a:pt x="4914" y="276"/>
                </a:cubicBezTo>
              </a:path>
            </a:pathLst>
          </a:custGeom>
          <a:noFill/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420370" y="2290445"/>
            <a:ext cx="2847975" cy="502311"/>
          </a:xfrm>
          <a:custGeom>
            <a:avLst/>
            <a:gdLst>
              <a:gd name="connsiteX0" fmla="*/ 0 w 4485"/>
              <a:gd name="connsiteY0" fmla="*/ 0 h 791"/>
              <a:gd name="connsiteX1" fmla="*/ 324 w 4485"/>
              <a:gd name="connsiteY1" fmla="*/ 300 h 791"/>
              <a:gd name="connsiteX2" fmla="*/ 852 w 4485"/>
              <a:gd name="connsiteY2" fmla="*/ 555 h 791"/>
              <a:gd name="connsiteX3" fmla="*/ 1515 w 4485"/>
              <a:gd name="connsiteY3" fmla="*/ 720 h 791"/>
              <a:gd name="connsiteX4" fmla="*/ 2301 w 4485"/>
              <a:gd name="connsiteY4" fmla="*/ 789 h 791"/>
              <a:gd name="connsiteX5" fmla="*/ 3045 w 4485"/>
              <a:gd name="connsiteY5" fmla="*/ 756 h 791"/>
              <a:gd name="connsiteX6" fmla="*/ 3720 w 4485"/>
              <a:gd name="connsiteY6" fmla="*/ 642 h 791"/>
              <a:gd name="connsiteX7" fmla="*/ 4269 w 4485"/>
              <a:gd name="connsiteY7" fmla="*/ 411 h 791"/>
              <a:gd name="connsiteX8" fmla="*/ 4350 w 4485"/>
              <a:gd name="connsiteY8" fmla="*/ 351 h 791"/>
              <a:gd name="connsiteX9" fmla="*/ 4485 w 4485"/>
              <a:gd name="connsiteY9" fmla="*/ 282 h 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85" h="791">
                <a:moveTo>
                  <a:pt x="0" y="0"/>
                </a:moveTo>
                <a:cubicBezTo>
                  <a:pt x="54" y="55"/>
                  <a:pt x="154" y="189"/>
                  <a:pt x="324" y="300"/>
                </a:cubicBezTo>
                <a:cubicBezTo>
                  <a:pt x="494" y="411"/>
                  <a:pt x="614" y="471"/>
                  <a:pt x="852" y="555"/>
                </a:cubicBezTo>
                <a:cubicBezTo>
                  <a:pt x="1090" y="639"/>
                  <a:pt x="1225" y="673"/>
                  <a:pt x="1515" y="720"/>
                </a:cubicBezTo>
                <a:cubicBezTo>
                  <a:pt x="1805" y="767"/>
                  <a:pt x="1995" y="782"/>
                  <a:pt x="2301" y="789"/>
                </a:cubicBezTo>
                <a:cubicBezTo>
                  <a:pt x="2607" y="796"/>
                  <a:pt x="2761" y="785"/>
                  <a:pt x="3045" y="756"/>
                </a:cubicBezTo>
                <a:cubicBezTo>
                  <a:pt x="3329" y="727"/>
                  <a:pt x="3475" y="711"/>
                  <a:pt x="3720" y="642"/>
                </a:cubicBezTo>
                <a:cubicBezTo>
                  <a:pt x="3965" y="573"/>
                  <a:pt x="4116" y="483"/>
                  <a:pt x="4269" y="411"/>
                </a:cubicBezTo>
                <a:cubicBezTo>
                  <a:pt x="4374" y="363"/>
                  <a:pt x="4314" y="373"/>
                  <a:pt x="4350" y="351"/>
                </a:cubicBezTo>
                <a:cubicBezTo>
                  <a:pt x="4386" y="330"/>
                  <a:pt x="4463" y="294"/>
                  <a:pt x="4485" y="282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728980" y="2783840"/>
            <a:ext cx="2082165" cy="354330"/>
          </a:xfrm>
          <a:custGeom>
            <a:avLst/>
            <a:gdLst>
              <a:gd name="connisteX0" fmla="*/ 0 w 2082165"/>
              <a:gd name="connsiteY0" fmla="*/ 0 h 354352"/>
              <a:gd name="connisteX1" fmla="*/ 377190 w 2082165"/>
              <a:gd name="connsiteY1" fmla="*/ 198120 h 354352"/>
              <a:gd name="connisteX2" fmla="*/ 756285 w 2082165"/>
              <a:gd name="connsiteY2" fmla="*/ 295275 h 354352"/>
              <a:gd name="connisteX3" fmla="*/ 1156335 w 2082165"/>
              <a:gd name="connsiteY3" fmla="*/ 350520 h 354352"/>
              <a:gd name="connisteX4" fmla="*/ 1506855 w 2082165"/>
              <a:gd name="connsiteY4" fmla="*/ 335280 h 354352"/>
              <a:gd name="connisteX5" fmla="*/ 1884045 w 2082165"/>
              <a:gd name="connsiteY5" fmla="*/ 259080 h 354352"/>
              <a:gd name="connisteX6" fmla="*/ 2082165 w 2082165"/>
              <a:gd name="connsiteY6" fmla="*/ 207645 h 354352"/>
              <a:gd name="connisteX7" fmla="*/ 2030730 w 2082165"/>
              <a:gd name="connsiteY7" fmla="*/ 262890 h 3543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2082165" h="354353">
                <a:moveTo>
                  <a:pt x="0" y="0"/>
                </a:moveTo>
                <a:cubicBezTo>
                  <a:pt x="67945" y="37465"/>
                  <a:pt x="226060" y="139065"/>
                  <a:pt x="377190" y="198120"/>
                </a:cubicBezTo>
                <a:cubicBezTo>
                  <a:pt x="528320" y="257175"/>
                  <a:pt x="600710" y="264795"/>
                  <a:pt x="756285" y="295275"/>
                </a:cubicBezTo>
                <a:cubicBezTo>
                  <a:pt x="911860" y="325755"/>
                  <a:pt x="1006475" y="342265"/>
                  <a:pt x="1156335" y="350520"/>
                </a:cubicBezTo>
                <a:cubicBezTo>
                  <a:pt x="1306195" y="358775"/>
                  <a:pt x="1361440" y="353695"/>
                  <a:pt x="1506855" y="335280"/>
                </a:cubicBezTo>
                <a:cubicBezTo>
                  <a:pt x="1652270" y="316865"/>
                  <a:pt x="1769110" y="284480"/>
                  <a:pt x="1884045" y="259080"/>
                </a:cubicBezTo>
                <a:cubicBezTo>
                  <a:pt x="1998980" y="233680"/>
                  <a:pt x="2052955" y="207010"/>
                  <a:pt x="2082165" y="207645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1643872" y="224798"/>
            <a:ext cx="546172" cy="226934"/>
          </a:xfrm>
          <a:custGeom>
            <a:avLst/>
            <a:gdLst>
              <a:gd name="connsiteX0" fmla="*/ 279 w 860"/>
              <a:gd name="connsiteY0" fmla="*/ 6 h 357"/>
              <a:gd name="connsiteX1" fmla="*/ 111 w 860"/>
              <a:gd name="connsiteY1" fmla="*/ 38 h 357"/>
              <a:gd name="connsiteX2" fmla="*/ 30 w 860"/>
              <a:gd name="connsiteY2" fmla="*/ 96 h 357"/>
              <a:gd name="connsiteX3" fmla="*/ 0 w 860"/>
              <a:gd name="connsiteY3" fmla="*/ 161 h 357"/>
              <a:gd name="connsiteX4" fmla="*/ 27 w 860"/>
              <a:gd name="connsiteY4" fmla="*/ 236 h 357"/>
              <a:gd name="connsiteX5" fmla="*/ 93 w 860"/>
              <a:gd name="connsiteY5" fmla="*/ 284 h 357"/>
              <a:gd name="connsiteX6" fmla="*/ 192 w 860"/>
              <a:gd name="connsiteY6" fmla="*/ 323 h 357"/>
              <a:gd name="connsiteX7" fmla="*/ 291 w 860"/>
              <a:gd name="connsiteY7" fmla="*/ 339 h 357"/>
              <a:gd name="connsiteX8" fmla="*/ 423 w 860"/>
              <a:gd name="connsiteY8" fmla="*/ 356 h 357"/>
              <a:gd name="connsiteX9" fmla="*/ 585 w 860"/>
              <a:gd name="connsiteY9" fmla="*/ 347 h 357"/>
              <a:gd name="connsiteX10" fmla="*/ 726 w 860"/>
              <a:gd name="connsiteY10" fmla="*/ 305 h 357"/>
              <a:gd name="connsiteX11" fmla="*/ 846 w 860"/>
              <a:gd name="connsiteY11" fmla="*/ 224 h 357"/>
              <a:gd name="connsiteX12" fmla="*/ 819 w 860"/>
              <a:gd name="connsiteY12" fmla="*/ 87 h 357"/>
              <a:gd name="connsiteX13" fmla="*/ 582 w 860"/>
              <a:gd name="connsiteY13" fmla="*/ 12 h 357"/>
              <a:gd name="connsiteX14" fmla="*/ 279 w 860"/>
              <a:gd name="connsiteY14" fmla="*/ 6 h 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60" h="357">
                <a:moveTo>
                  <a:pt x="279" y="6"/>
                </a:moveTo>
                <a:cubicBezTo>
                  <a:pt x="183" y="13"/>
                  <a:pt x="161" y="20"/>
                  <a:pt x="111" y="38"/>
                </a:cubicBezTo>
                <a:cubicBezTo>
                  <a:pt x="61" y="56"/>
                  <a:pt x="50" y="73"/>
                  <a:pt x="30" y="96"/>
                </a:cubicBezTo>
                <a:cubicBezTo>
                  <a:pt x="10" y="119"/>
                  <a:pt x="1" y="134"/>
                  <a:pt x="0" y="161"/>
                </a:cubicBezTo>
                <a:cubicBezTo>
                  <a:pt x="-1" y="189"/>
                  <a:pt x="8" y="211"/>
                  <a:pt x="27" y="236"/>
                </a:cubicBezTo>
                <a:cubicBezTo>
                  <a:pt x="46" y="261"/>
                  <a:pt x="60" y="267"/>
                  <a:pt x="93" y="284"/>
                </a:cubicBezTo>
                <a:cubicBezTo>
                  <a:pt x="126" y="301"/>
                  <a:pt x="152" y="314"/>
                  <a:pt x="192" y="323"/>
                </a:cubicBezTo>
                <a:cubicBezTo>
                  <a:pt x="232" y="332"/>
                  <a:pt x="245" y="332"/>
                  <a:pt x="291" y="339"/>
                </a:cubicBezTo>
                <a:cubicBezTo>
                  <a:pt x="337" y="346"/>
                  <a:pt x="365" y="352"/>
                  <a:pt x="423" y="356"/>
                </a:cubicBezTo>
                <a:cubicBezTo>
                  <a:pt x="481" y="360"/>
                  <a:pt x="524" y="357"/>
                  <a:pt x="585" y="347"/>
                </a:cubicBezTo>
                <a:cubicBezTo>
                  <a:pt x="646" y="337"/>
                  <a:pt x="674" y="330"/>
                  <a:pt x="726" y="305"/>
                </a:cubicBezTo>
                <a:cubicBezTo>
                  <a:pt x="778" y="280"/>
                  <a:pt x="827" y="268"/>
                  <a:pt x="846" y="224"/>
                </a:cubicBezTo>
                <a:cubicBezTo>
                  <a:pt x="865" y="180"/>
                  <a:pt x="872" y="130"/>
                  <a:pt x="819" y="87"/>
                </a:cubicBezTo>
                <a:cubicBezTo>
                  <a:pt x="766" y="44"/>
                  <a:pt x="690" y="28"/>
                  <a:pt x="582" y="12"/>
                </a:cubicBezTo>
                <a:cubicBezTo>
                  <a:pt x="474" y="-4"/>
                  <a:pt x="375" y="-1"/>
                  <a:pt x="279" y="6"/>
                </a:cubicBezTo>
                <a:close/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1798320" y="3535045"/>
            <a:ext cx="599440" cy="3082290"/>
          </a:xfrm>
          <a:custGeom>
            <a:avLst/>
            <a:gdLst>
              <a:gd name="connsiteX0" fmla="*/ 0 w 944"/>
              <a:gd name="connsiteY0" fmla="*/ 0 h 4854"/>
              <a:gd name="connsiteX1" fmla="*/ 192 w 944"/>
              <a:gd name="connsiteY1" fmla="*/ 246 h 4854"/>
              <a:gd name="connsiteX2" fmla="*/ 592 w 944"/>
              <a:gd name="connsiteY2" fmla="*/ 958 h 4854"/>
              <a:gd name="connsiteX3" fmla="*/ 784 w 944"/>
              <a:gd name="connsiteY3" fmla="*/ 1710 h 4854"/>
              <a:gd name="connsiteX4" fmla="*/ 896 w 944"/>
              <a:gd name="connsiteY4" fmla="*/ 2558 h 4854"/>
              <a:gd name="connsiteX5" fmla="*/ 944 w 944"/>
              <a:gd name="connsiteY5" fmla="*/ 3422 h 4854"/>
              <a:gd name="connsiteX6" fmla="*/ 880 w 944"/>
              <a:gd name="connsiteY6" fmla="*/ 4078 h 4854"/>
              <a:gd name="connsiteX7" fmla="*/ 696 w 944"/>
              <a:gd name="connsiteY7" fmla="*/ 4606 h 4854"/>
              <a:gd name="connsiteX8" fmla="*/ 520 w 944"/>
              <a:gd name="connsiteY8" fmla="*/ 4854 h 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4" h="4854">
                <a:moveTo>
                  <a:pt x="0" y="0"/>
                </a:moveTo>
                <a:cubicBezTo>
                  <a:pt x="29" y="39"/>
                  <a:pt x="75" y="51"/>
                  <a:pt x="192" y="246"/>
                </a:cubicBezTo>
                <a:cubicBezTo>
                  <a:pt x="309" y="441"/>
                  <a:pt x="474" y="665"/>
                  <a:pt x="592" y="958"/>
                </a:cubicBezTo>
                <a:cubicBezTo>
                  <a:pt x="710" y="1251"/>
                  <a:pt x="723" y="1390"/>
                  <a:pt x="784" y="1710"/>
                </a:cubicBezTo>
                <a:cubicBezTo>
                  <a:pt x="845" y="2030"/>
                  <a:pt x="864" y="2216"/>
                  <a:pt x="896" y="2558"/>
                </a:cubicBezTo>
                <a:cubicBezTo>
                  <a:pt x="928" y="2900"/>
                  <a:pt x="947" y="3118"/>
                  <a:pt x="944" y="3422"/>
                </a:cubicBezTo>
                <a:cubicBezTo>
                  <a:pt x="941" y="3726"/>
                  <a:pt x="930" y="3841"/>
                  <a:pt x="880" y="4078"/>
                </a:cubicBezTo>
                <a:cubicBezTo>
                  <a:pt x="830" y="4315"/>
                  <a:pt x="768" y="4451"/>
                  <a:pt x="696" y="4606"/>
                </a:cubicBezTo>
                <a:cubicBezTo>
                  <a:pt x="624" y="4761"/>
                  <a:pt x="552" y="4815"/>
                  <a:pt x="520" y="4854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1605280" y="3549015"/>
            <a:ext cx="1266190" cy="2966720"/>
          </a:xfrm>
          <a:custGeom>
            <a:avLst/>
            <a:gdLst>
              <a:gd name="connisteX0" fmla="*/ 0 w 1266341"/>
              <a:gd name="connsiteY0" fmla="*/ 0 h 2966720"/>
              <a:gd name="connisteX1" fmla="*/ 309880 w 1266341"/>
              <a:gd name="connsiteY1" fmla="*/ 116840 h 2966720"/>
              <a:gd name="connisteX2" fmla="*/ 482600 w 1266341"/>
              <a:gd name="connsiteY2" fmla="*/ 228600 h 2966720"/>
              <a:gd name="connisteX3" fmla="*/ 807720 w 1266341"/>
              <a:gd name="connsiteY3" fmla="*/ 558800 h 2966720"/>
              <a:gd name="connisteX4" fmla="*/ 1071880 w 1266341"/>
              <a:gd name="connsiteY4" fmla="*/ 1010920 h 2966720"/>
              <a:gd name="connisteX5" fmla="*/ 1214120 w 1266341"/>
              <a:gd name="connsiteY5" fmla="*/ 1544320 h 2966720"/>
              <a:gd name="connisteX6" fmla="*/ 1264920 w 1266341"/>
              <a:gd name="connsiteY6" fmla="*/ 2062480 h 2966720"/>
              <a:gd name="connisteX7" fmla="*/ 1178560 w 1266341"/>
              <a:gd name="connsiteY7" fmla="*/ 2504440 h 2966720"/>
              <a:gd name="connisteX8" fmla="*/ 1000760 w 1266341"/>
              <a:gd name="connsiteY8" fmla="*/ 2834640 h 2966720"/>
              <a:gd name="connisteX9" fmla="*/ 909320 w 1266341"/>
              <a:gd name="connsiteY9" fmla="*/ 2966720 h 2966720"/>
              <a:gd name="connisteX10" fmla="*/ 944880 w 1266341"/>
              <a:gd name="connsiteY10" fmla="*/ 2895600 h 29667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1266341" h="2966720">
                <a:moveTo>
                  <a:pt x="0" y="0"/>
                </a:moveTo>
                <a:cubicBezTo>
                  <a:pt x="58420" y="20955"/>
                  <a:pt x="213360" y="71120"/>
                  <a:pt x="309880" y="116840"/>
                </a:cubicBezTo>
                <a:cubicBezTo>
                  <a:pt x="406400" y="162560"/>
                  <a:pt x="382905" y="140335"/>
                  <a:pt x="482600" y="228600"/>
                </a:cubicBezTo>
                <a:cubicBezTo>
                  <a:pt x="582295" y="316865"/>
                  <a:pt x="689610" y="402590"/>
                  <a:pt x="807720" y="558800"/>
                </a:cubicBezTo>
                <a:cubicBezTo>
                  <a:pt x="925830" y="715010"/>
                  <a:pt x="990600" y="814070"/>
                  <a:pt x="1071880" y="1010920"/>
                </a:cubicBezTo>
                <a:cubicBezTo>
                  <a:pt x="1153160" y="1207770"/>
                  <a:pt x="1175385" y="1334135"/>
                  <a:pt x="1214120" y="1544320"/>
                </a:cubicBezTo>
                <a:cubicBezTo>
                  <a:pt x="1252855" y="1754505"/>
                  <a:pt x="1271905" y="1870710"/>
                  <a:pt x="1264920" y="2062480"/>
                </a:cubicBezTo>
                <a:cubicBezTo>
                  <a:pt x="1257935" y="2254250"/>
                  <a:pt x="1231265" y="2350135"/>
                  <a:pt x="1178560" y="2504440"/>
                </a:cubicBezTo>
                <a:cubicBezTo>
                  <a:pt x="1125855" y="2658745"/>
                  <a:pt x="1054735" y="2741930"/>
                  <a:pt x="1000760" y="2834640"/>
                </a:cubicBezTo>
                <a:cubicBezTo>
                  <a:pt x="946785" y="2927350"/>
                  <a:pt x="920750" y="2954655"/>
                  <a:pt x="909320" y="2966720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/>
        </p:nvSpPr>
        <p:spPr>
          <a:xfrm>
            <a:off x="1310640" y="3626485"/>
            <a:ext cx="1900555" cy="2589530"/>
          </a:xfrm>
          <a:custGeom>
            <a:avLst/>
            <a:gdLst>
              <a:gd name="connisteX0" fmla="*/ 0 w 1900686"/>
              <a:gd name="connsiteY0" fmla="*/ 13817 h 2589377"/>
              <a:gd name="connisteX1" fmla="*/ 609600 w 1900686"/>
              <a:gd name="connsiteY1" fmla="*/ 44297 h 2589377"/>
              <a:gd name="connisteX2" fmla="*/ 1275080 w 1900686"/>
              <a:gd name="connsiteY2" fmla="*/ 394817 h 2589377"/>
              <a:gd name="connisteX3" fmla="*/ 1620520 w 1900686"/>
              <a:gd name="connsiteY3" fmla="*/ 831697 h 2589377"/>
              <a:gd name="connisteX4" fmla="*/ 1838960 w 1900686"/>
              <a:gd name="connsiteY4" fmla="*/ 1319377 h 2589377"/>
              <a:gd name="connisteX5" fmla="*/ 1899920 w 1900686"/>
              <a:gd name="connsiteY5" fmla="*/ 1827377 h 2589377"/>
              <a:gd name="connisteX6" fmla="*/ 1818640 w 1900686"/>
              <a:gd name="connsiteY6" fmla="*/ 2289657 h 2589377"/>
              <a:gd name="connisteX7" fmla="*/ 1656080 w 1900686"/>
              <a:gd name="connsiteY7" fmla="*/ 2589377 h 2589377"/>
              <a:gd name="connisteX8" fmla="*/ 1691640 w 1900686"/>
              <a:gd name="connsiteY8" fmla="*/ 2528417 h 258937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900687" h="2589378">
                <a:moveTo>
                  <a:pt x="0" y="13818"/>
                </a:moveTo>
                <a:cubicBezTo>
                  <a:pt x="108585" y="13183"/>
                  <a:pt x="354330" y="-31902"/>
                  <a:pt x="609600" y="44298"/>
                </a:cubicBezTo>
                <a:cubicBezTo>
                  <a:pt x="864870" y="120498"/>
                  <a:pt x="1073150" y="237338"/>
                  <a:pt x="1275080" y="394818"/>
                </a:cubicBezTo>
                <a:cubicBezTo>
                  <a:pt x="1477010" y="552298"/>
                  <a:pt x="1507490" y="646913"/>
                  <a:pt x="1620520" y="831698"/>
                </a:cubicBezTo>
                <a:cubicBezTo>
                  <a:pt x="1733550" y="1016483"/>
                  <a:pt x="1783080" y="1119988"/>
                  <a:pt x="1838960" y="1319378"/>
                </a:cubicBezTo>
                <a:cubicBezTo>
                  <a:pt x="1894840" y="1518768"/>
                  <a:pt x="1903730" y="1633068"/>
                  <a:pt x="1899920" y="1827378"/>
                </a:cubicBezTo>
                <a:cubicBezTo>
                  <a:pt x="1896110" y="2021688"/>
                  <a:pt x="1867535" y="2137258"/>
                  <a:pt x="1818640" y="2289658"/>
                </a:cubicBezTo>
                <a:cubicBezTo>
                  <a:pt x="1769745" y="2442058"/>
                  <a:pt x="1681480" y="2541753"/>
                  <a:pt x="1656080" y="258937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/>
        </p:nvSpPr>
        <p:spPr>
          <a:xfrm>
            <a:off x="782320" y="3670300"/>
            <a:ext cx="2661920" cy="1590675"/>
          </a:xfrm>
          <a:custGeom>
            <a:avLst/>
            <a:gdLst>
              <a:gd name="connisteX0" fmla="*/ 0 w 2661920"/>
              <a:gd name="connsiteY0" fmla="*/ 295280 h 1590680"/>
              <a:gd name="connisteX1" fmla="*/ 350520 w 2661920"/>
              <a:gd name="connsiteY1" fmla="*/ 112400 h 1590680"/>
              <a:gd name="connisteX2" fmla="*/ 1127760 w 2661920"/>
              <a:gd name="connsiteY2" fmla="*/ 5720 h 1590680"/>
              <a:gd name="connisteX3" fmla="*/ 1884680 w 2661920"/>
              <a:gd name="connsiteY3" fmla="*/ 249560 h 1590680"/>
              <a:gd name="connisteX4" fmla="*/ 2286000 w 2661920"/>
              <a:gd name="connsiteY4" fmla="*/ 630560 h 1590680"/>
              <a:gd name="connisteX5" fmla="*/ 2545080 w 2661920"/>
              <a:gd name="connsiteY5" fmla="*/ 1103000 h 1590680"/>
              <a:gd name="connisteX6" fmla="*/ 2661920 w 2661920"/>
              <a:gd name="connsiteY6" fmla="*/ 1590680 h 1590680"/>
              <a:gd name="connisteX7" fmla="*/ 2661920 w 2661920"/>
              <a:gd name="connsiteY7" fmla="*/ 1585600 h 15906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2661920" h="1590681">
                <a:moveTo>
                  <a:pt x="0" y="295281"/>
                </a:moveTo>
                <a:cubicBezTo>
                  <a:pt x="54610" y="260991"/>
                  <a:pt x="125095" y="170186"/>
                  <a:pt x="350520" y="112401"/>
                </a:cubicBezTo>
                <a:cubicBezTo>
                  <a:pt x="575945" y="54616"/>
                  <a:pt x="821055" y="-21584"/>
                  <a:pt x="1127760" y="5721"/>
                </a:cubicBezTo>
                <a:cubicBezTo>
                  <a:pt x="1434465" y="33026"/>
                  <a:pt x="1652905" y="124466"/>
                  <a:pt x="1884680" y="249561"/>
                </a:cubicBezTo>
                <a:cubicBezTo>
                  <a:pt x="2116455" y="374656"/>
                  <a:pt x="2153920" y="459746"/>
                  <a:pt x="2286000" y="630561"/>
                </a:cubicBezTo>
                <a:cubicBezTo>
                  <a:pt x="2418080" y="801376"/>
                  <a:pt x="2470150" y="911231"/>
                  <a:pt x="2545080" y="1103001"/>
                </a:cubicBezTo>
                <a:cubicBezTo>
                  <a:pt x="2620010" y="1294771"/>
                  <a:pt x="2638425" y="1494161"/>
                  <a:pt x="2661920" y="1590681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>
            <a:off x="314960" y="3669030"/>
            <a:ext cx="2763520" cy="1530985"/>
          </a:xfrm>
          <a:custGeom>
            <a:avLst/>
            <a:gdLst>
              <a:gd name="connisteX0" fmla="*/ 0 w 2763520"/>
              <a:gd name="connsiteY0" fmla="*/ 1531205 h 1531205"/>
              <a:gd name="connisteX1" fmla="*/ 147320 w 2763520"/>
              <a:gd name="connsiteY1" fmla="*/ 962245 h 1531205"/>
              <a:gd name="connisteX2" fmla="*/ 426720 w 2763520"/>
              <a:gd name="connsiteY2" fmla="*/ 540605 h 1531205"/>
              <a:gd name="connisteX3" fmla="*/ 838200 w 2763520"/>
              <a:gd name="connsiteY3" fmla="*/ 230725 h 1531205"/>
              <a:gd name="connisteX4" fmla="*/ 1590040 w 2763520"/>
              <a:gd name="connsiteY4" fmla="*/ 2125 h 1531205"/>
              <a:gd name="connisteX5" fmla="*/ 2367280 w 2763520"/>
              <a:gd name="connsiteY5" fmla="*/ 149445 h 1531205"/>
              <a:gd name="connisteX6" fmla="*/ 2763520 w 2763520"/>
              <a:gd name="connsiteY6" fmla="*/ 408525 h 1531205"/>
              <a:gd name="connisteX7" fmla="*/ 2692400 w 2763520"/>
              <a:gd name="connsiteY7" fmla="*/ 459325 h 15312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2763520" h="1531206">
                <a:moveTo>
                  <a:pt x="0" y="1531206"/>
                </a:moveTo>
                <a:cubicBezTo>
                  <a:pt x="24130" y="1425796"/>
                  <a:pt x="62230" y="1160366"/>
                  <a:pt x="147320" y="962246"/>
                </a:cubicBezTo>
                <a:cubicBezTo>
                  <a:pt x="232410" y="764126"/>
                  <a:pt x="288290" y="686656"/>
                  <a:pt x="426720" y="540606"/>
                </a:cubicBezTo>
                <a:cubicBezTo>
                  <a:pt x="565150" y="394556"/>
                  <a:pt x="605790" y="338676"/>
                  <a:pt x="838200" y="230726"/>
                </a:cubicBezTo>
                <a:cubicBezTo>
                  <a:pt x="1070610" y="122776"/>
                  <a:pt x="1283970" y="18636"/>
                  <a:pt x="1590040" y="2126"/>
                </a:cubicBezTo>
                <a:cubicBezTo>
                  <a:pt x="1896110" y="-14384"/>
                  <a:pt x="2132330" y="68166"/>
                  <a:pt x="2367280" y="149446"/>
                </a:cubicBezTo>
                <a:cubicBezTo>
                  <a:pt x="2602230" y="230726"/>
                  <a:pt x="2698750" y="346296"/>
                  <a:pt x="2763520" y="408526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/>
        </p:nvSpPr>
        <p:spPr>
          <a:xfrm>
            <a:off x="543560" y="3649980"/>
            <a:ext cx="1981200" cy="2509520"/>
          </a:xfrm>
          <a:custGeom>
            <a:avLst/>
            <a:gdLst>
              <a:gd name="connsiteX0" fmla="*/ 336 w 3120"/>
              <a:gd name="connsiteY0" fmla="*/ 3952 h 3952"/>
              <a:gd name="connsiteX1" fmla="*/ 112 w 3120"/>
              <a:gd name="connsiteY1" fmla="*/ 3416 h 3952"/>
              <a:gd name="connsiteX2" fmla="*/ 0 w 3120"/>
              <a:gd name="connsiteY2" fmla="*/ 2680 h 3952"/>
              <a:gd name="connsiteX3" fmla="*/ 120 w 3120"/>
              <a:gd name="connsiteY3" fmla="*/ 1928 h 3952"/>
              <a:gd name="connsiteX4" fmla="*/ 488 w 3120"/>
              <a:gd name="connsiteY4" fmla="*/ 1176 h 3952"/>
              <a:gd name="connsiteX5" fmla="*/ 1096 w 3120"/>
              <a:gd name="connsiteY5" fmla="*/ 568 h 3952"/>
              <a:gd name="connsiteX6" fmla="*/ 2152 w 3120"/>
              <a:gd name="connsiteY6" fmla="*/ 32 h 3952"/>
              <a:gd name="connsiteX7" fmla="*/ 2112 w 3120"/>
              <a:gd name="connsiteY7" fmla="*/ 58 h 3952"/>
              <a:gd name="connsiteX8" fmla="*/ 2136 w 3120"/>
              <a:gd name="connsiteY8" fmla="*/ 46 h 3952"/>
              <a:gd name="connsiteX9" fmla="*/ 2100 w 3120"/>
              <a:gd name="connsiteY9" fmla="*/ 62 h 3952"/>
              <a:gd name="connsiteX10" fmla="*/ 2244 w 3120"/>
              <a:gd name="connsiteY10" fmla="*/ 34 h 3952"/>
              <a:gd name="connsiteX11" fmla="*/ 2348 w 3120"/>
              <a:gd name="connsiteY11" fmla="*/ 26 h 3952"/>
              <a:gd name="connsiteX12" fmla="*/ 2616 w 3120"/>
              <a:gd name="connsiteY12" fmla="*/ 6 h 3952"/>
              <a:gd name="connsiteX13" fmla="*/ 3120 w 3120"/>
              <a:gd name="connsiteY13" fmla="*/ 32 h 3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20" h="3952">
                <a:moveTo>
                  <a:pt x="336" y="3952"/>
                </a:moveTo>
                <a:cubicBezTo>
                  <a:pt x="293" y="3860"/>
                  <a:pt x="179" y="3670"/>
                  <a:pt x="112" y="3416"/>
                </a:cubicBezTo>
                <a:cubicBezTo>
                  <a:pt x="45" y="3162"/>
                  <a:pt x="-2" y="2978"/>
                  <a:pt x="0" y="2680"/>
                </a:cubicBezTo>
                <a:cubicBezTo>
                  <a:pt x="2" y="2382"/>
                  <a:pt x="22" y="2229"/>
                  <a:pt x="120" y="1928"/>
                </a:cubicBezTo>
                <a:cubicBezTo>
                  <a:pt x="218" y="1627"/>
                  <a:pt x="293" y="1448"/>
                  <a:pt x="488" y="1176"/>
                </a:cubicBezTo>
                <a:cubicBezTo>
                  <a:pt x="683" y="904"/>
                  <a:pt x="763" y="797"/>
                  <a:pt x="1096" y="568"/>
                </a:cubicBezTo>
                <a:cubicBezTo>
                  <a:pt x="1429" y="339"/>
                  <a:pt x="1822" y="170"/>
                  <a:pt x="2152" y="32"/>
                </a:cubicBezTo>
                <a:cubicBezTo>
                  <a:pt x="2321" y="-53"/>
                  <a:pt x="2115" y="56"/>
                  <a:pt x="2112" y="58"/>
                </a:cubicBezTo>
                <a:cubicBezTo>
                  <a:pt x="2109" y="60"/>
                  <a:pt x="2121" y="50"/>
                  <a:pt x="2136" y="46"/>
                </a:cubicBezTo>
                <a:cubicBezTo>
                  <a:pt x="2145" y="46"/>
                  <a:pt x="2082" y="64"/>
                  <a:pt x="2100" y="62"/>
                </a:cubicBezTo>
                <a:cubicBezTo>
                  <a:pt x="2115" y="62"/>
                  <a:pt x="2220" y="35"/>
                  <a:pt x="2244" y="34"/>
                </a:cubicBezTo>
                <a:cubicBezTo>
                  <a:pt x="2277" y="33"/>
                  <a:pt x="2286" y="31"/>
                  <a:pt x="2348" y="26"/>
                </a:cubicBezTo>
                <a:cubicBezTo>
                  <a:pt x="2425" y="22"/>
                  <a:pt x="2487" y="5"/>
                  <a:pt x="2616" y="6"/>
                </a:cubicBezTo>
                <a:cubicBezTo>
                  <a:pt x="2777" y="6"/>
                  <a:pt x="3036" y="28"/>
                  <a:pt x="3120" y="32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/>
        </p:nvSpPr>
        <p:spPr>
          <a:xfrm>
            <a:off x="878205" y="3579495"/>
            <a:ext cx="1417955" cy="2905760"/>
          </a:xfrm>
          <a:custGeom>
            <a:avLst/>
            <a:gdLst>
              <a:gd name="connisteX0" fmla="*/ 320453 w 1417733"/>
              <a:gd name="connsiteY0" fmla="*/ 2905760 h 2905760"/>
              <a:gd name="connisteX1" fmla="*/ 234093 w 1417733"/>
              <a:gd name="connsiteY1" fmla="*/ 2758440 h 2905760"/>
              <a:gd name="connisteX2" fmla="*/ 76613 w 1417733"/>
              <a:gd name="connsiteY2" fmla="*/ 2407920 h 2905760"/>
              <a:gd name="connisteX3" fmla="*/ 413 w 1417733"/>
              <a:gd name="connsiteY3" fmla="*/ 1945640 h 2905760"/>
              <a:gd name="connisteX4" fmla="*/ 61373 w 1417733"/>
              <a:gd name="connsiteY4" fmla="*/ 1447800 h 2905760"/>
              <a:gd name="connisteX5" fmla="*/ 249333 w 1417733"/>
              <a:gd name="connsiteY5" fmla="*/ 955040 h 2905760"/>
              <a:gd name="connisteX6" fmla="*/ 533813 w 1417733"/>
              <a:gd name="connsiteY6" fmla="*/ 508000 h 2905760"/>
              <a:gd name="connisteX7" fmla="*/ 1026573 w 1417733"/>
              <a:gd name="connsiteY7" fmla="*/ 86360 h 2905760"/>
              <a:gd name="connisteX8" fmla="*/ 1417733 w 1417733"/>
              <a:gd name="connsiteY8" fmla="*/ 0 h 2905760"/>
              <a:gd name="connisteX9" fmla="*/ 1336453 w 1417733"/>
              <a:gd name="connsiteY9" fmla="*/ 45720 h 29057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</a:cxnLst>
            <a:rect l="l" t="t" r="r" b="b"/>
            <a:pathLst>
              <a:path w="1417734" h="2905760">
                <a:moveTo>
                  <a:pt x="320454" y="2905760"/>
                </a:moveTo>
                <a:cubicBezTo>
                  <a:pt x="306484" y="2883535"/>
                  <a:pt x="282989" y="2858135"/>
                  <a:pt x="234094" y="2758440"/>
                </a:cubicBezTo>
                <a:cubicBezTo>
                  <a:pt x="185199" y="2658745"/>
                  <a:pt x="123604" y="2570480"/>
                  <a:pt x="76614" y="2407920"/>
                </a:cubicBezTo>
                <a:cubicBezTo>
                  <a:pt x="29624" y="2245360"/>
                  <a:pt x="3589" y="2137410"/>
                  <a:pt x="414" y="1945640"/>
                </a:cubicBezTo>
                <a:cubicBezTo>
                  <a:pt x="-2761" y="1753870"/>
                  <a:pt x="11844" y="1645920"/>
                  <a:pt x="61374" y="1447800"/>
                </a:cubicBezTo>
                <a:cubicBezTo>
                  <a:pt x="110904" y="1249680"/>
                  <a:pt x="154719" y="1143000"/>
                  <a:pt x="249334" y="955040"/>
                </a:cubicBezTo>
                <a:cubicBezTo>
                  <a:pt x="343949" y="767080"/>
                  <a:pt x="378239" y="681990"/>
                  <a:pt x="533814" y="508000"/>
                </a:cubicBezTo>
                <a:cubicBezTo>
                  <a:pt x="689389" y="334010"/>
                  <a:pt x="850044" y="187960"/>
                  <a:pt x="1026574" y="86360"/>
                </a:cubicBezTo>
                <a:cubicBezTo>
                  <a:pt x="1203104" y="-15240"/>
                  <a:pt x="1355504" y="8255"/>
                  <a:pt x="1417734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任意多边形 56"/>
          <p:cNvSpPr/>
          <p:nvPr/>
        </p:nvSpPr>
        <p:spPr>
          <a:xfrm>
            <a:off x="1352550" y="3540760"/>
            <a:ext cx="702945" cy="3079115"/>
          </a:xfrm>
          <a:custGeom>
            <a:avLst/>
            <a:gdLst>
              <a:gd name="connsiteX0" fmla="*/ 369 w 1106"/>
              <a:gd name="connsiteY0" fmla="*/ 4849 h 4849"/>
              <a:gd name="connsiteX1" fmla="*/ 201 w 1106"/>
              <a:gd name="connsiteY1" fmla="*/ 4553 h 4849"/>
              <a:gd name="connsiteX2" fmla="*/ 57 w 1106"/>
              <a:gd name="connsiteY2" fmla="*/ 4033 h 4849"/>
              <a:gd name="connsiteX3" fmla="*/ 1 w 1106"/>
              <a:gd name="connsiteY3" fmla="*/ 3321 h 4849"/>
              <a:gd name="connsiteX4" fmla="*/ 81 w 1106"/>
              <a:gd name="connsiteY4" fmla="*/ 2497 h 4849"/>
              <a:gd name="connsiteX5" fmla="*/ 241 w 1106"/>
              <a:gd name="connsiteY5" fmla="*/ 1689 h 4849"/>
              <a:gd name="connsiteX6" fmla="*/ 473 w 1106"/>
              <a:gd name="connsiteY6" fmla="*/ 937 h 4849"/>
              <a:gd name="connsiteX7" fmla="*/ 881 w 1106"/>
              <a:gd name="connsiteY7" fmla="*/ 185 h 4849"/>
              <a:gd name="connsiteX8" fmla="*/ 856 w 1106"/>
              <a:gd name="connsiteY8" fmla="*/ 222 h 4849"/>
              <a:gd name="connsiteX9" fmla="*/ 856 w 1106"/>
              <a:gd name="connsiteY9" fmla="*/ 189 h 4849"/>
              <a:gd name="connsiteX10" fmla="*/ 886 w 1106"/>
              <a:gd name="connsiteY10" fmla="*/ 192 h 4849"/>
              <a:gd name="connsiteX11" fmla="*/ 880 w 1106"/>
              <a:gd name="connsiteY11" fmla="*/ 183 h 4849"/>
              <a:gd name="connsiteX12" fmla="*/ 884 w 1106"/>
              <a:gd name="connsiteY12" fmla="*/ 180 h 4849"/>
              <a:gd name="connsiteX13" fmla="*/ 920 w 1106"/>
              <a:gd name="connsiteY13" fmla="*/ 177 h 4849"/>
              <a:gd name="connsiteX14" fmla="*/ 959 w 1106"/>
              <a:gd name="connsiteY14" fmla="*/ 153 h 4849"/>
              <a:gd name="connsiteX15" fmla="*/ 996 w 1106"/>
              <a:gd name="connsiteY15" fmla="*/ 126 h 4849"/>
              <a:gd name="connsiteX16" fmla="*/ 1062 w 1106"/>
              <a:gd name="connsiteY16" fmla="*/ 54 h 4849"/>
              <a:gd name="connsiteX17" fmla="*/ 1107 w 1106"/>
              <a:gd name="connsiteY17" fmla="*/ 0 h 4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7" h="4849">
                <a:moveTo>
                  <a:pt x="369" y="4849"/>
                </a:moveTo>
                <a:cubicBezTo>
                  <a:pt x="338" y="4800"/>
                  <a:pt x="263" y="4716"/>
                  <a:pt x="201" y="4553"/>
                </a:cubicBezTo>
                <a:cubicBezTo>
                  <a:pt x="139" y="4390"/>
                  <a:pt x="97" y="4279"/>
                  <a:pt x="57" y="4033"/>
                </a:cubicBezTo>
                <a:cubicBezTo>
                  <a:pt x="17" y="3787"/>
                  <a:pt x="-4" y="3628"/>
                  <a:pt x="1" y="3321"/>
                </a:cubicBezTo>
                <a:cubicBezTo>
                  <a:pt x="6" y="3014"/>
                  <a:pt x="33" y="2823"/>
                  <a:pt x="81" y="2497"/>
                </a:cubicBezTo>
                <a:cubicBezTo>
                  <a:pt x="129" y="2171"/>
                  <a:pt x="163" y="2001"/>
                  <a:pt x="241" y="1689"/>
                </a:cubicBezTo>
                <a:cubicBezTo>
                  <a:pt x="319" y="1377"/>
                  <a:pt x="345" y="1238"/>
                  <a:pt x="473" y="937"/>
                </a:cubicBezTo>
                <a:cubicBezTo>
                  <a:pt x="601" y="636"/>
                  <a:pt x="739" y="377"/>
                  <a:pt x="881" y="185"/>
                </a:cubicBezTo>
                <a:cubicBezTo>
                  <a:pt x="945" y="66"/>
                  <a:pt x="860" y="221"/>
                  <a:pt x="856" y="222"/>
                </a:cubicBezTo>
                <a:cubicBezTo>
                  <a:pt x="852" y="223"/>
                  <a:pt x="851" y="194"/>
                  <a:pt x="856" y="189"/>
                </a:cubicBezTo>
                <a:cubicBezTo>
                  <a:pt x="857" y="190"/>
                  <a:pt x="882" y="193"/>
                  <a:pt x="886" y="192"/>
                </a:cubicBezTo>
                <a:cubicBezTo>
                  <a:pt x="886" y="192"/>
                  <a:pt x="880" y="185"/>
                  <a:pt x="880" y="183"/>
                </a:cubicBezTo>
                <a:cubicBezTo>
                  <a:pt x="881" y="182"/>
                  <a:pt x="875" y="173"/>
                  <a:pt x="884" y="180"/>
                </a:cubicBezTo>
                <a:cubicBezTo>
                  <a:pt x="891" y="179"/>
                  <a:pt x="908" y="182"/>
                  <a:pt x="920" y="177"/>
                </a:cubicBezTo>
                <a:cubicBezTo>
                  <a:pt x="933" y="172"/>
                  <a:pt x="946" y="162"/>
                  <a:pt x="959" y="153"/>
                </a:cubicBezTo>
                <a:cubicBezTo>
                  <a:pt x="978" y="143"/>
                  <a:pt x="985" y="139"/>
                  <a:pt x="996" y="126"/>
                </a:cubicBezTo>
                <a:cubicBezTo>
                  <a:pt x="1020" y="108"/>
                  <a:pt x="1031" y="79"/>
                  <a:pt x="1062" y="54"/>
                </a:cubicBezTo>
                <a:cubicBezTo>
                  <a:pt x="1113" y="19"/>
                  <a:pt x="1080" y="17"/>
                  <a:pt x="1107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1706245" y="378460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706245" y="73469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706245" y="123126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706245" y="176085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06245" y="2293620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 0</a:t>
            </a:r>
            <a:r>
              <a:rPr lang="zh-CN" altLang="en-US">
                <a:solidFill>
                  <a:srgbClr val="FF0000"/>
                </a:solidFill>
              </a:rPr>
              <a:t>°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06245" y="271081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1879600" y="3527425"/>
            <a:ext cx="33020" cy="3105150"/>
          </a:xfrm>
          <a:custGeom>
            <a:avLst/>
            <a:gdLst>
              <a:gd name="connsiteX0" fmla="*/ 52 w 52"/>
              <a:gd name="connsiteY0" fmla="*/ 0 h 4890"/>
              <a:gd name="connsiteX1" fmla="*/ 0 w 52"/>
              <a:gd name="connsiteY1" fmla="*/ 4890 h 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" h="4890">
                <a:moveTo>
                  <a:pt x="52" y="0"/>
                </a:moveTo>
                <a:cubicBezTo>
                  <a:pt x="36" y="1637"/>
                  <a:pt x="16" y="3253"/>
                  <a:pt x="0" y="4890"/>
                </a:cubicBezTo>
              </a:path>
            </a:pathLst>
          </a:custGeom>
          <a:noFill/>
          <a:ln w="190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51000" y="480885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°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0310" y="475043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34235" y="475043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13435" y="4500880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515870" y="4500880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29230" y="4268470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96265" y="4311650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729230" y="396049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96265" y="3960495"/>
            <a:ext cx="539115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80</a:t>
            </a:r>
            <a:r>
              <a:rPr lang="zh-CN" altLang="en-US"/>
              <a:t>°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739900" y="138430"/>
            <a:ext cx="39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×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821430" y="686435"/>
            <a:ext cx="8363585" cy="6171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图一</a:t>
            </a:r>
            <a:r>
              <a:rPr lang="zh-CN" altLang="en-US" sz="3200"/>
              <a:t>表示地球上的</a:t>
            </a:r>
            <a:r>
              <a:rPr lang="zh-CN" altLang="en-US" sz="3200" u="sng"/>
              <a:t>（</a:t>
            </a:r>
            <a:r>
              <a:rPr lang="en-US" altLang="zh-CN" sz="3200" u="sng"/>
              <a:t>4</a:t>
            </a:r>
            <a:r>
              <a:rPr lang="zh-CN" altLang="en-US" sz="3200" u="sng"/>
              <a:t>）</a:t>
            </a:r>
            <a:r>
              <a:rPr lang="zh-CN" altLang="en-US" sz="3200"/>
              <a:t>线，指示</a:t>
            </a:r>
            <a:r>
              <a:rPr lang="zh-CN" altLang="en-US" sz="3200" u="sng"/>
              <a:t>（</a:t>
            </a:r>
            <a:r>
              <a:rPr lang="en-US" altLang="zh-CN" sz="3200" u="sng"/>
              <a:t>5</a:t>
            </a:r>
            <a:r>
              <a:rPr lang="zh-CN" altLang="en-US" sz="3200" u="sng"/>
              <a:t>）</a:t>
            </a:r>
            <a:r>
              <a:rPr lang="zh-CN" altLang="en-US" sz="3200"/>
              <a:t>方向；</a:t>
            </a:r>
            <a:endParaRPr lang="zh-CN" altLang="en-US" sz="3200"/>
          </a:p>
          <a:p>
            <a:r>
              <a:rPr lang="zh-CN" altLang="en-US" sz="3200" b="1">
                <a:effectLst/>
              </a:rPr>
              <a:t>图二</a:t>
            </a:r>
            <a:r>
              <a:rPr lang="zh-CN" altLang="en-US" sz="3200"/>
              <a:t>表示地球上的</a:t>
            </a:r>
            <a:r>
              <a:rPr lang="en-US" altLang="zh-CN" sz="3200" u="sng"/>
              <a:t> </a:t>
            </a:r>
            <a:r>
              <a:rPr lang="zh-CN" sz="3200" u="sng"/>
              <a:t>（</a:t>
            </a:r>
            <a:r>
              <a:rPr lang="en-US" altLang="zh-CN" sz="3200" u="sng"/>
              <a:t>6</a:t>
            </a:r>
            <a:r>
              <a:rPr lang="zh-CN" sz="3200" u="sng"/>
              <a:t>）</a:t>
            </a:r>
            <a:r>
              <a:rPr lang="zh-CN" altLang="en-US" sz="3200"/>
              <a:t>线，指示</a:t>
            </a:r>
            <a:r>
              <a:rPr lang="zh-CN" altLang="en-US" sz="3200" u="sng"/>
              <a:t>（</a:t>
            </a:r>
            <a:r>
              <a:rPr lang="en-US" altLang="zh-CN" sz="3200" u="sng"/>
              <a:t>7</a:t>
            </a:r>
            <a:r>
              <a:rPr lang="zh-CN" altLang="en-US" sz="3200" u="sng"/>
              <a:t>）</a:t>
            </a:r>
            <a:r>
              <a:rPr lang="zh-CN" altLang="en-US" sz="3200"/>
              <a:t>方向；</a:t>
            </a:r>
            <a:endParaRPr lang="zh-CN" altLang="en-US" sz="3200"/>
          </a:p>
          <a:p>
            <a:r>
              <a:rPr lang="en-US" altLang="zh-CN" sz="3200" b="1"/>
              <a:t>0</a:t>
            </a:r>
            <a:r>
              <a:rPr lang="zh-CN" altLang="en-US" sz="3200" b="1"/>
              <a:t>度纬线</a:t>
            </a:r>
            <a:r>
              <a:rPr lang="zh-CN" altLang="en-US" sz="3200"/>
              <a:t>的名称是</a:t>
            </a:r>
            <a:r>
              <a:rPr lang="en-US" altLang="zh-CN" sz="3200" u="sng"/>
              <a:t>   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8</a:t>
            </a:r>
            <a:r>
              <a:rPr lang="zh-CN" altLang="en-US" sz="3200" u="sng">
                <a:sym typeface="+mn-ea"/>
              </a:rPr>
              <a:t>）</a:t>
            </a:r>
            <a:r>
              <a:rPr lang="en-US" altLang="zh-CN" sz="3200" u="sng"/>
              <a:t>   </a:t>
            </a:r>
            <a:r>
              <a:rPr lang="zh-CN" altLang="en-US" sz="3200"/>
              <a:t>；</a:t>
            </a:r>
            <a:endParaRPr lang="zh-CN" altLang="en-US" sz="3200"/>
          </a:p>
          <a:p>
            <a:r>
              <a:rPr lang="en-US" altLang="zh-CN" sz="3200" b="1"/>
              <a:t>0</a:t>
            </a:r>
            <a:r>
              <a:rPr lang="zh-CN" altLang="en-US" sz="3200" b="1"/>
              <a:t>度经线</a:t>
            </a:r>
            <a:r>
              <a:rPr lang="zh-CN" altLang="en-US" sz="3200"/>
              <a:t>的名称是</a:t>
            </a:r>
            <a:r>
              <a:rPr lang="en-US" altLang="zh-CN" sz="3200" u="sng"/>
              <a:t>   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9</a:t>
            </a:r>
            <a:r>
              <a:rPr lang="zh-CN" altLang="en-US" sz="3200" u="sng">
                <a:sym typeface="+mn-ea"/>
              </a:rPr>
              <a:t>）</a:t>
            </a:r>
            <a:r>
              <a:rPr lang="en-US" altLang="zh-CN" sz="3200" u="sng"/>
              <a:t>   </a:t>
            </a:r>
            <a:r>
              <a:rPr lang="zh-CN" altLang="en-US" sz="3200"/>
              <a:t>；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 b="1"/>
              <a:t>北纬</a:t>
            </a:r>
            <a:r>
              <a:rPr lang="zh-CN" altLang="en-US" sz="3200"/>
              <a:t>用</a:t>
            </a:r>
            <a:r>
              <a:rPr lang="en-US" altLang="zh-CN" sz="3200"/>
              <a:t>“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10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/>
              <a:t>（字母）</a:t>
            </a:r>
            <a:r>
              <a:rPr lang="en-US" altLang="zh-CN" sz="3200"/>
              <a:t>”</a:t>
            </a:r>
            <a:r>
              <a:rPr lang="zh-CN" altLang="en-US" sz="3200"/>
              <a:t>表示；</a:t>
            </a:r>
            <a:endParaRPr lang="zh-CN" altLang="en-US" sz="3200"/>
          </a:p>
          <a:p>
            <a:r>
              <a:rPr lang="zh-CN" altLang="en-US" sz="3200" b="1">
                <a:sym typeface="+mn-ea"/>
              </a:rPr>
              <a:t>南纬</a:t>
            </a:r>
            <a:r>
              <a:rPr lang="zh-CN" altLang="en-US" sz="3200">
                <a:sym typeface="+mn-ea"/>
              </a:rPr>
              <a:t>用</a:t>
            </a:r>
            <a:r>
              <a:rPr lang="en-US" altLang="zh-CN" sz="3200">
                <a:sym typeface="+mn-ea"/>
              </a:rPr>
              <a:t>“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11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（字母）</a:t>
            </a:r>
            <a:r>
              <a:rPr lang="en-US" altLang="zh-CN" sz="3200">
                <a:sym typeface="+mn-ea"/>
              </a:rPr>
              <a:t>”</a:t>
            </a:r>
            <a:r>
              <a:rPr lang="zh-CN" altLang="en-US" sz="3200">
                <a:sym typeface="+mn-ea"/>
              </a:rPr>
              <a:t>表示；</a:t>
            </a:r>
            <a:endParaRPr lang="zh-CN" altLang="en-US" sz="3200">
              <a:sym typeface="+mn-ea"/>
            </a:endParaRPr>
          </a:p>
          <a:p>
            <a:endParaRPr lang="zh-CN" altLang="en-US" sz="3200"/>
          </a:p>
          <a:p>
            <a:r>
              <a:rPr lang="zh-CN" altLang="en-US" sz="3200" b="1"/>
              <a:t>西经</a:t>
            </a:r>
            <a:r>
              <a:rPr lang="zh-CN" altLang="en-US" sz="3200">
                <a:sym typeface="+mn-ea"/>
              </a:rPr>
              <a:t>用</a:t>
            </a:r>
            <a:r>
              <a:rPr lang="en-US" altLang="zh-CN" sz="3200">
                <a:sym typeface="+mn-ea"/>
              </a:rPr>
              <a:t>“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12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（字母）</a:t>
            </a:r>
            <a:r>
              <a:rPr lang="en-US" altLang="zh-CN" sz="3200">
                <a:sym typeface="+mn-ea"/>
              </a:rPr>
              <a:t>”</a:t>
            </a:r>
            <a:r>
              <a:rPr lang="zh-CN" altLang="en-US" sz="3200">
                <a:sym typeface="+mn-ea"/>
              </a:rPr>
              <a:t>表示；</a:t>
            </a:r>
            <a:endParaRPr lang="zh-CN" altLang="en-US" sz="3200"/>
          </a:p>
          <a:p>
            <a:r>
              <a:rPr lang="zh-CN" altLang="en-US" sz="3200" b="1">
                <a:sym typeface="+mn-ea"/>
              </a:rPr>
              <a:t>东经</a:t>
            </a:r>
            <a:r>
              <a:rPr lang="zh-CN" altLang="en-US" sz="3200">
                <a:sym typeface="+mn-ea"/>
              </a:rPr>
              <a:t>用</a:t>
            </a:r>
            <a:r>
              <a:rPr lang="en-US" altLang="zh-CN" sz="3200">
                <a:sym typeface="+mn-ea"/>
              </a:rPr>
              <a:t>“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13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（字母）</a:t>
            </a:r>
            <a:r>
              <a:rPr lang="en-US" altLang="zh-CN" sz="3200">
                <a:sym typeface="+mn-ea"/>
              </a:rPr>
              <a:t>”</a:t>
            </a:r>
            <a:r>
              <a:rPr lang="zh-CN" altLang="en-US" sz="3200">
                <a:sym typeface="+mn-ea"/>
              </a:rPr>
              <a:t>表示；</a:t>
            </a:r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r>
              <a:rPr lang="zh-CN" altLang="en-US" sz="3200" b="1">
                <a:sym typeface="+mn-ea"/>
              </a:rPr>
              <a:t>东西半球</a:t>
            </a:r>
            <a:r>
              <a:rPr lang="zh-CN" altLang="en-US" sz="3200">
                <a:sym typeface="+mn-ea"/>
              </a:rPr>
              <a:t>的划分界限是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14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和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15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 b="1">
                <a:sym typeface="+mn-ea"/>
              </a:rPr>
              <a:t>经线圈</a:t>
            </a:r>
            <a:r>
              <a:rPr lang="zh-CN" altLang="en-US" sz="3200">
                <a:sym typeface="+mn-ea"/>
              </a:rPr>
              <a:t>。</a:t>
            </a:r>
            <a:endParaRPr lang="zh-CN" altLang="en-US" sz="3200"/>
          </a:p>
          <a:p>
            <a:endParaRPr lang="zh-CN" altLang="en-US" sz="3200"/>
          </a:p>
        </p:txBody>
      </p:sp>
      <p:sp>
        <p:nvSpPr>
          <p:cNvPr id="17" name="文本框 16"/>
          <p:cNvSpPr txBox="1"/>
          <p:nvPr/>
        </p:nvSpPr>
        <p:spPr>
          <a:xfrm>
            <a:off x="0" y="4445"/>
            <a:ext cx="969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图一</a:t>
            </a:r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0" y="3423920"/>
            <a:ext cx="969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图二</a:t>
            </a:r>
            <a:endParaRPr lang="zh-CN" altLang="en-US" sz="2400"/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1" animBg="1"/>
      <p:bldP spid="3" grpId="0"/>
      <p:bldP spid="39" grpId="0" animBg="1"/>
      <p:bldP spid="6" grpId="0"/>
      <p:bldP spid="48" grpId="0" animBg="1"/>
      <p:bldP spid="3" grpId="1"/>
      <p:bldP spid="39" grpId="1" animBg="1"/>
      <p:bldP spid="6" grpId="1"/>
      <p:bldP spid="48" grpId="1" animBg="1"/>
      <p:bldP spid="49" grpId="0" animBg="1"/>
      <p:bldP spid="57" grpId="0" animBg="1"/>
      <p:bldP spid="2" grpId="0"/>
      <p:bldP spid="7" grpId="0"/>
      <p:bldP spid="8" grpId="0"/>
      <p:bldP spid="4" grpId="0"/>
      <p:bldP spid="40" grpId="0" animBg="1"/>
      <p:bldP spid="38" grpId="0" animBg="1"/>
      <p:bldP spid="49" grpId="1" animBg="1"/>
      <p:bldP spid="57" grpId="1" animBg="1"/>
      <p:bldP spid="2" grpId="1"/>
      <p:bldP spid="7" grpId="1"/>
      <p:bldP spid="8" grpId="1"/>
      <p:bldP spid="4" grpId="1"/>
      <p:bldP spid="40" grpId="1" animBg="1"/>
      <p:bldP spid="38" grpId="1" animBg="1"/>
      <p:bldP spid="10" grpId="0"/>
      <p:bldP spid="9" grpId="0"/>
      <p:bldP spid="56" grpId="0" animBg="1"/>
      <p:bldP spid="50" grpId="0" animBg="1"/>
      <p:bldP spid="66" grpId="0"/>
      <p:bldP spid="41" grpId="0" animBg="1"/>
      <p:bldP spid="37" grpId="0" animBg="1"/>
      <p:bldP spid="10" grpId="1"/>
      <p:bldP spid="9" grpId="1"/>
      <p:bldP spid="56" grpId="1" animBg="1"/>
      <p:bldP spid="50" grpId="1" animBg="1"/>
      <p:bldP spid="66" grpId="1"/>
      <p:bldP spid="41" grpId="1" animBg="1"/>
      <p:bldP spid="37" grpId="1" animBg="1"/>
      <p:bldP spid="55" grpId="0" animBg="1"/>
      <p:bldP spid="12" grpId="0"/>
      <p:bldP spid="52" grpId="0" animBg="1"/>
      <p:bldP spid="11" grpId="0"/>
      <p:bldP spid="65" grpId="0"/>
      <p:bldP spid="36" grpId="0" animBg="1"/>
      <p:bldP spid="55" grpId="1" animBg="1"/>
      <p:bldP spid="12" grpId="1"/>
      <p:bldP spid="52" grpId="1" animBg="1"/>
      <p:bldP spid="11" grpId="1"/>
      <p:bldP spid="65" grpId="1"/>
      <p:bldP spid="36" grpId="1" animBg="1"/>
      <p:bldP spid="42" grpId="0" animBg="1"/>
      <p:bldP spid="15" grpId="0"/>
      <p:bldP spid="64" grpId="0"/>
      <p:bldP spid="14" grpId="0"/>
      <p:bldP spid="13" grpId="0"/>
      <p:bldP spid="53" grpId="0" animBg="1"/>
      <p:bldP spid="54" grpId="0" animBg="1"/>
      <p:bldP spid="42" grpId="1" animBg="1"/>
      <p:bldP spid="15" grpId="1"/>
      <p:bldP spid="64" grpId="1"/>
      <p:bldP spid="14" grpId="1"/>
      <p:bldP spid="13" grpId="1"/>
      <p:bldP spid="53" grpId="1" animBg="1"/>
      <p:bldP spid="54" grpId="1" animBg="1"/>
      <p:bldP spid="47" grpId="0"/>
      <p:bldP spid="4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-5511800" y="-2512695"/>
            <a:ext cx="19940400" cy="10213200"/>
            <a:chOff x="-3071" y="146"/>
            <a:chExt cx="20328" cy="10164"/>
          </a:xfrm>
        </p:grpSpPr>
        <p:pic>
          <p:nvPicPr>
            <p:cNvPr id="14" name="图片 13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93" y="146"/>
              <a:ext cx="10164" cy="10164"/>
            </a:xfrm>
            <a:prstGeom prst="rect">
              <a:avLst/>
            </a:prstGeom>
          </p:spPr>
        </p:pic>
        <p:pic>
          <p:nvPicPr>
            <p:cNvPr id="19" name="图片 18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3071" y="146"/>
              <a:ext cx="10164" cy="10164"/>
            </a:xfrm>
            <a:prstGeom prst="rect">
              <a:avLst/>
            </a:prstGeom>
          </p:spPr>
        </p:pic>
      </p:grpSp>
      <p:sp>
        <p:nvSpPr>
          <p:cNvPr id="6" name="任意多边形 5"/>
          <p:cNvSpPr/>
          <p:nvPr/>
        </p:nvSpPr>
        <p:spPr>
          <a:xfrm>
            <a:off x="-6263005" y="-1697990"/>
            <a:ext cx="20433665" cy="110661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285" h="11543">
                <a:moveTo>
                  <a:pt x="9599" y="2707"/>
                </a:moveTo>
                <a:cubicBezTo>
                  <a:pt x="8089" y="2707"/>
                  <a:pt x="6864" y="3913"/>
                  <a:pt x="6864" y="5400"/>
                </a:cubicBezTo>
                <a:cubicBezTo>
                  <a:pt x="6864" y="6887"/>
                  <a:pt x="8089" y="8093"/>
                  <a:pt x="9599" y="8093"/>
                </a:cubicBezTo>
                <a:cubicBezTo>
                  <a:pt x="11110" y="8093"/>
                  <a:pt x="12335" y="6887"/>
                  <a:pt x="12335" y="5400"/>
                </a:cubicBezTo>
                <a:cubicBezTo>
                  <a:pt x="12335" y="3913"/>
                  <a:pt x="11110" y="2707"/>
                  <a:pt x="9599" y="2707"/>
                </a:cubicBezTo>
                <a:close/>
                <a:moveTo>
                  <a:pt x="0" y="0"/>
                </a:moveTo>
                <a:lnTo>
                  <a:pt x="21285" y="0"/>
                </a:lnTo>
                <a:lnTo>
                  <a:pt x="21285" y="11543"/>
                </a:lnTo>
                <a:lnTo>
                  <a:pt x="0" y="1154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58775" y="892175"/>
            <a:ext cx="5210810" cy="51308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692900" y="51435"/>
            <a:ext cx="5885815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/>
          </a:p>
          <a:p>
            <a:endParaRPr lang="zh-CN" altLang="en-US" sz="3200"/>
          </a:p>
          <a:p>
            <a:r>
              <a:rPr lang="en-US" altLang="zh-CN" sz="3200"/>
              <a:t>A</a:t>
            </a:r>
            <a:r>
              <a:rPr lang="zh-CN" altLang="en-US" sz="3200"/>
              <a:t>的纬度是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16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en-US" altLang="en-US" sz="3200" u="sng"/>
          </a:p>
          <a:p>
            <a:r>
              <a:rPr lang="en-US" altLang="zh-CN" sz="3200"/>
              <a:t>B</a:t>
            </a:r>
            <a:r>
              <a:rPr lang="zh-CN" altLang="en-US" sz="3200">
                <a:sym typeface="+mn-ea"/>
              </a:rPr>
              <a:t>的纬度是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17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en-US" altLang="en-US" sz="3200"/>
          </a:p>
          <a:p>
            <a:r>
              <a:rPr lang="en-US" altLang="zh-CN" sz="3200"/>
              <a:t>C</a:t>
            </a:r>
            <a:r>
              <a:rPr lang="zh-CN" altLang="en-US" sz="3200">
                <a:sym typeface="+mn-ea"/>
              </a:rPr>
              <a:t>的纬度是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18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en-US" altLang="en-US" sz="3200"/>
          </a:p>
          <a:p>
            <a:r>
              <a:rPr lang="en-US" altLang="zh-CN" sz="3200"/>
              <a:t>D</a:t>
            </a:r>
            <a:r>
              <a:rPr lang="zh-CN" altLang="en-US" sz="3200">
                <a:sym typeface="+mn-ea"/>
              </a:rPr>
              <a:t>的纬度是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19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r>
              <a:rPr lang="zh-CN" altLang="en-US" sz="3200" b="1">
                <a:sym typeface="+mn-ea"/>
              </a:rPr>
              <a:t>低</a:t>
            </a:r>
            <a:r>
              <a:rPr lang="zh-CN" altLang="en-US" sz="3200">
                <a:sym typeface="+mn-ea"/>
              </a:rPr>
              <a:t>纬度带范围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20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zh-CN" altLang="en-US" sz="3200" b="1">
                <a:sym typeface="+mn-ea"/>
              </a:rPr>
              <a:t>中</a:t>
            </a:r>
            <a:r>
              <a:rPr lang="zh-CN" altLang="en-US" sz="3200">
                <a:sym typeface="+mn-ea"/>
              </a:rPr>
              <a:t>纬度带范围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21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zh-CN" altLang="en-US" sz="3200" b="1">
                <a:sym typeface="+mn-ea"/>
              </a:rPr>
              <a:t>高</a:t>
            </a:r>
            <a:r>
              <a:rPr lang="zh-CN" altLang="en-US" sz="3200">
                <a:sym typeface="+mn-ea"/>
              </a:rPr>
              <a:t>纬度带范围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22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zh-CN" altLang="en-US" sz="3200">
                <a:sym typeface="+mn-ea"/>
              </a:rPr>
              <a:t>（填几度到几度）</a:t>
            </a:r>
            <a:endParaRPr lang="zh-CN" altLang="en-US" sz="3200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第一节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地球与地球仪</a:t>
            </a:r>
            <a:r>
              <a:rPr lang="zh-CN" altLang="en-US" sz="3200">
                <a:latin typeface="+mj-ea"/>
                <a:ea typeface="+mj-ea"/>
                <a:cs typeface="+mj-ea"/>
                <a:sym typeface="+mn-ea"/>
              </a:rPr>
              <a:t>（地球仪上的经纬网）</a:t>
            </a:r>
            <a:endParaRPr lang="zh-CN" altLang="en-US" sz="3200">
              <a:latin typeface="+mj-ea"/>
              <a:ea typeface="+mj-ea"/>
              <a:cs typeface="+mj-ea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65760" y="3461385"/>
            <a:ext cx="5107940" cy="19050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35610" y="2745105"/>
            <a:ext cx="5024755" cy="6985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084705" y="1080770"/>
            <a:ext cx="1586230" cy="3175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2045335" y="5875655"/>
            <a:ext cx="1645920" cy="8890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81330" y="4188460"/>
            <a:ext cx="4956175" cy="3810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201160" y="605155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A</a:t>
            </a:r>
            <a:endParaRPr lang="en-US" altLang="zh-CN" sz="4000"/>
          </a:p>
        </p:txBody>
      </p:sp>
      <p:sp>
        <p:nvSpPr>
          <p:cNvPr id="7" name="文本框 6"/>
          <p:cNvSpPr txBox="1"/>
          <p:nvPr/>
        </p:nvSpPr>
        <p:spPr>
          <a:xfrm>
            <a:off x="5437505" y="2399030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B</a:t>
            </a:r>
            <a:endParaRPr lang="en-US" altLang="zh-CN" sz="4000"/>
          </a:p>
        </p:txBody>
      </p:sp>
      <p:sp>
        <p:nvSpPr>
          <p:cNvPr id="8" name="文本框 7"/>
          <p:cNvSpPr txBox="1"/>
          <p:nvPr/>
        </p:nvSpPr>
        <p:spPr>
          <a:xfrm>
            <a:off x="5460365" y="3808095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C</a:t>
            </a:r>
            <a:endParaRPr lang="en-US" altLang="zh-CN" sz="4000"/>
          </a:p>
        </p:txBody>
      </p:sp>
      <p:sp>
        <p:nvSpPr>
          <p:cNvPr id="9" name="文本框 8"/>
          <p:cNvSpPr txBox="1"/>
          <p:nvPr/>
        </p:nvSpPr>
        <p:spPr>
          <a:xfrm>
            <a:off x="4306570" y="5453380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D</a:t>
            </a:r>
            <a:endParaRPr lang="en-US" altLang="zh-CN" sz="4000"/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6823 -0.0137963 L 0.440052 -0.0127778 " pathEditMode="relative" rAng="0" ptsTypes="">
                                      <p:cBhvr>
                                        <p:cTn id="40" dur="2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" y="1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/>
      <p:bldP spid="21" grpId="0"/>
      <p:bldP spid="2" grpId="0"/>
      <p:bldP spid="7" grpId="0"/>
      <p:bldP spid="8" grpId="0"/>
      <p:bldP spid="9" grpId="0"/>
      <p:bldP spid="21" grpId="1"/>
      <p:bldP spid="2" grpId="1"/>
      <p:bldP spid="7" grpId="1"/>
      <p:bldP spid="8" grpId="1"/>
      <p:bldP spid="9" grpId="1"/>
      <p:bldP spid="47" grpId="0"/>
      <p:bldP spid="4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直角三角形 36"/>
          <p:cNvSpPr/>
          <p:nvPr/>
        </p:nvSpPr>
        <p:spPr>
          <a:xfrm rot="10800000">
            <a:off x="8058150" y="-106045"/>
            <a:ext cx="4303395" cy="163576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 rot="1260000">
            <a:off x="-5114925" y="-1884680"/>
            <a:ext cx="19940270" cy="10213340"/>
            <a:chOff x="-3071" y="146"/>
            <a:chExt cx="20328" cy="10164"/>
          </a:xfrm>
        </p:grpSpPr>
        <p:pic>
          <p:nvPicPr>
            <p:cNvPr id="14" name="图片 13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93" y="146"/>
              <a:ext cx="10164" cy="10164"/>
            </a:xfrm>
            <a:prstGeom prst="rect">
              <a:avLst/>
            </a:prstGeom>
          </p:spPr>
        </p:pic>
        <p:pic>
          <p:nvPicPr>
            <p:cNvPr id="19" name="图片 18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3071" y="146"/>
              <a:ext cx="10164" cy="10164"/>
            </a:xfrm>
            <a:prstGeom prst="rect">
              <a:avLst/>
            </a:prstGeom>
          </p:spPr>
        </p:pic>
      </p:grpSp>
      <p:sp>
        <p:nvSpPr>
          <p:cNvPr id="6" name="任意多边形 5"/>
          <p:cNvSpPr/>
          <p:nvPr/>
        </p:nvSpPr>
        <p:spPr>
          <a:xfrm rot="1260000">
            <a:off x="-6277610" y="-1332865"/>
            <a:ext cx="20433665" cy="110661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285" h="11543">
                <a:moveTo>
                  <a:pt x="9599" y="2707"/>
                </a:moveTo>
                <a:cubicBezTo>
                  <a:pt x="8089" y="2707"/>
                  <a:pt x="6864" y="3913"/>
                  <a:pt x="6864" y="5400"/>
                </a:cubicBezTo>
                <a:cubicBezTo>
                  <a:pt x="6864" y="6887"/>
                  <a:pt x="8089" y="8093"/>
                  <a:pt x="9599" y="8093"/>
                </a:cubicBezTo>
                <a:cubicBezTo>
                  <a:pt x="11110" y="8093"/>
                  <a:pt x="12335" y="6887"/>
                  <a:pt x="12335" y="5400"/>
                </a:cubicBezTo>
                <a:cubicBezTo>
                  <a:pt x="12335" y="3913"/>
                  <a:pt x="11110" y="2707"/>
                  <a:pt x="9599" y="2707"/>
                </a:cubicBezTo>
                <a:close/>
                <a:moveTo>
                  <a:pt x="0" y="0"/>
                </a:moveTo>
                <a:lnTo>
                  <a:pt x="21285" y="0"/>
                </a:lnTo>
                <a:lnTo>
                  <a:pt x="21285" y="11543"/>
                </a:lnTo>
                <a:lnTo>
                  <a:pt x="0" y="1154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3180080" y="921385"/>
            <a:ext cx="4878000" cy="5184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09" h="8190">
                <a:moveTo>
                  <a:pt x="0" y="0"/>
                </a:moveTo>
                <a:lnTo>
                  <a:pt x="7709" y="0"/>
                </a:lnTo>
                <a:lnTo>
                  <a:pt x="7709" y="8190"/>
                </a:lnTo>
                <a:lnTo>
                  <a:pt x="0" y="8190"/>
                </a:lnTo>
                <a:lnTo>
                  <a:pt x="0" y="8134"/>
                </a:lnTo>
                <a:lnTo>
                  <a:pt x="11" y="8134"/>
                </a:lnTo>
                <a:cubicBezTo>
                  <a:pt x="1644" y="8128"/>
                  <a:pt x="3172" y="7150"/>
                  <a:pt x="3784" y="5555"/>
                </a:cubicBezTo>
                <a:cubicBezTo>
                  <a:pt x="4584" y="3472"/>
                  <a:pt x="3517" y="1125"/>
                  <a:pt x="1402" y="313"/>
                </a:cubicBezTo>
                <a:cubicBezTo>
                  <a:pt x="956" y="142"/>
                  <a:pt x="498" y="53"/>
                  <a:pt x="47" y="38"/>
                </a:cubicBezTo>
                <a:lnTo>
                  <a:pt x="0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FFC000">
                  <a:alpha val="1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第二节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地球的运动</a:t>
            </a:r>
            <a:endParaRPr lang="en-US" altLang="zh-CN" sz="3200">
              <a:latin typeface="+mj-ea"/>
              <a:ea typeface="+mj-ea"/>
              <a:cs typeface="+mj-ea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rot="1260000">
            <a:off x="549910" y="3480435"/>
            <a:ext cx="5107940" cy="19050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rot="1260000">
            <a:off x="876935" y="2821940"/>
            <a:ext cx="5024755" cy="6985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rot="1260000">
            <a:off x="3128010" y="1242695"/>
            <a:ext cx="1586230" cy="3175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rot="1260000" flipV="1">
            <a:off x="1369695" y="5715635"/>
            <a:ext cx="1645920" cy="8890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rot="1260000">
            <a:off x="405130" y="4173855"/>
            <a:ext cx="4956175" cy="3810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 rot="1260000">
            <a:off x="5180330" y="1360170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A</a:t>
            </a:r>
            <a:endParaRPr lang="en-US" altLang="zh-CN" sz="4000"/>
          </a:p>
        </p:txBody>
      </p:sp>
      <p:sp>
        <p:nvSpPr>
          <p:cNvPr id="7" name="文本框 6"/>
          <p:cNvSpPr txBox="1"/>
          <p:nvPr/>
        </p:nvSpPr>
        <p:spPr>
          <a:xfrm rot="1260000">
            <a:off x="5691505" y="3477895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B</a:t>
            </a:r>
            <a:endParaRPr lang="en-US" altLang="zh-CN" sz="4000"/>
          </a:p>
        </p:txBody>
      </p:sp>
      <p:sp>
        <p:nvSpPr>
          <p:cNvPr id="8" name="文本框 7"/>
          <p:cNvSpPr txBox="1"/>
          <p:nvPr/>
        </p:nvSpPr>
        <p:spPr>
          <a:xfrm rot="1260000">
            <a:off x="5208270" y="4801870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C</a:t>
            </a:r>
            <a:endParaRPr lang="en-US" altLang="zh-CN" sz="4000"/>
          </a:p>
        </p:txBody>
      </p:sp>
      <p:sp>
        <p:nvSpPr>
          <p:cNvPr id="9" name="文本框 8"/>
          <p:cNvSpPr txBox="1"/>
          <p:nvPr/>
        </p:nvSpPr>
        <p:spPr>
          <a:xfrm rot="1260000">
            <a:off x="3541395" y="5923915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D</a:t>
            </a:r>
            <a:endParaRPr lang="en-US" altLang="zh-CN" sz="4000"/>
          </a:p>
        </p:txBody>
      </p:sp>
      <p:sp>
        <p:nvSpPr>
          <p:cNvPr id="16" name="椭圆 15"/>
          <p:cNvSpPr/>
          <p:nvPr/>
        </p:nvSpPr>
        <p:spPr>
          <a:xfrm rot="1260000">
            <a:off x="543560" y="941070"/>
            <a:ext cx="5210810" cy="51308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4952365" y="1228090"/>
            <a:ext cx="2966085" cy="1079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/>
        </p:nvGrpSpPr>
        <p:grpSpPr>
          <a:xfrm>
            <a:off x="4952365" y="1999615"/>
            <a:ext cx="2966085" cy="3815080"/>
            <a:chOff x="7799" y="3149"/>
            <a:chExt cx="4671" cy="6008"/>
          </a:xfrm>
        </p:grpSpPr>
        <p:cxnSp>
          <p:nvCxnSpPr>
            <p:cNvPr id="20" name="直接箭头连接符 19"/>
            <p:cNvCxnSpPr/>
            <p:nvPr/>
          </p:nvCxnSpPr>
          <p:spPr>
            <a:xfrm flipH="1">
              <a:off x="8694" y="3149"/>
              <a:ext cx="3776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H="1">
              <a:off x="9358" y="4347"/>
              <a:ext cx="3112" cy="9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H="1" flipV="1">
              <a:off x="9715" y="5539"/>
              <a:ext cx="2755" cy="6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H="1">
              <a:off x="9390" y="6743"/>
              <a:ext cx="3080" cy="13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H="1">
              <a:off x="8694" y="7941"/>
              <a:ext cx="3776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H="1">
              <a:off x="7799" y="9155"/>
              <a:ext cx="4671" cy="3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5" name="任意多边形 34"/>
          <p:cNvSpPr/>
          <p:nvPr/>
        </p:nvSpPr>
        <p:spPr>
          <a:xfrm rot="20340000" flipH="1">
            <a:off x="510214" y="1225353"/>
            <a:ext cx="3641725" cy="5034280"/>
          </a:xfrm>
          <a:custGeom>
            <a:avLst/>
            <a:gdLst>
              <a:gd name="connsiteX0" fmla="*/ 1632 w 5735"/>
              <a:gd name="connsiteY0" fmla="*/ 0 h 7928"/>
              <a:gd name="connsiteX1" fmla="*/ 5735 w 5735"/>
              <a:gd name="connsiteY1" fmla="*/ 4040 h 7928"/>
              <a:gd name="connsiteX2" fmla="*/ 2943 w 5735"/>
              <a:gd name="connsiteY2" fmla="*/ 7928 h 7928"/>
              <a:gd name="connsiteX3" fmla="*/ 2962 w 5735"/>
              <a:gd name="connsiteY3" fmla="*/ 7920 h 7928"/>
              <a:gd name="connsiteX4" fmla="*/ 0 w 5735"/>
              <a:gd name="connsiteY4" fmla="*/ 323 h 7928"/>
              <a:gd name="connsiteX5" fmla="*/ 316 w 5735"/>
              <a:gd name="connsiteY5" fmla="*/ 212 h 7928"/>
              <a:gd name="connsiteX6" fmla="*/ 1632 w 5735"/>
              <a:gd name="connsiteY6" fmla="*/ 0 h 7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5" h="7928">
                <a:moveTo>
                  <a:pt x="1632" y="0"/>
                </a:moveTo>
                <a:cubicBezTo>
                  <a:pt x="3898" y="0"/>
                  <a:pt x="5735" y="1809"/>
                  <a:pt x="5735" y="4040"/>
                </a:cubicBezTo>
                <a:cubicBezTo>
                  <a:pt x="5735" y="5713"/>
                  <a:pt x="4416" y="7314"/>
                  <a:pt x="2943" y="7928"/>
                </a:cubicBezTo>
                <a:lnTo>
                  <a:pt x="2962" y="7920"/>
                </a:lnTo>
                <a:lnTo>
                  <a:pt x="0" y="323"/>
                </a:lnTo>
                <a:lnTo>
                  <a:pt x="316" y="212"/>
                </a:lnTo>
                <a:cubicBezTo>
                  <a:pt x="729" y="75"/>
                  <a:pt x="1172" y="0"/>
                  <a:pt x="1632" y="0"/>
                </a:cubicBezTo>
                <a:close/>
              </a:path>
            </a:pathLst>
          </a:cu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506845" y="313690"/>
            <a:ext cx="5885815" cy="4180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如右图，这是地球的</a:t>
            </a:r>
            <a:r>
              <a:rPr lang="zh-CN" altLang="en-US" sz="3200" u="sng"/>
              <a:t>（</a:t>
            </a:r>
            <a:r>
              <a:rPr lang="en-US" altLang="zh-CN" sz="3200" u="sng"/>
              <a:t>23</a:t>
            </a:r>
            <a:r>
              <a:rPr lang="zh-CN" altLang="en-US" sz="3200" u="sng"/>
              <a:t>）</a:t>
            </a:r>
            <a:r>
              <a:rPr lang="zh-CN" altLang="en-US" sz="3200"/>
              <a:t>运动，这种运动的绕转中心是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24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/>
              <a:t>，运动方向是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25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/>
              <a:t>，周期是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26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/>
              <a:t>，会产生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27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/>
              <a:t>（</a:t>
            </a:r>
            <a:r>
              <a:rPr lang="zh-CN" altLang="en-US" sz="3200" b="1"/>
              <a:t>至少写两种</a:t>
            </a:r>
            <a:r>
              <a:rPr lang="zh-CN" altLang="en-US" sz="3200"/>
              <a:t>）等现象。</a:t>
            </a:r>
            <a:endParaRPr lang="zh-CN" altLang="en-US" sz="3200">
              <a:sym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789555" y="638175"/>
            <a:ext cx="791845" cy="5843905"/>
          </a:xfrm>
          <a:prstGeom prst="ellipse">
            <a:avLst/>
          </a:prstGeom>
          <a:noFill/>
          <a:ln w="889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507480" y="3729990"/>
            <a:ext cx="5751195" cy="2226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/>
          </a:p>
          <a:p>
            <a:r>
              <a:rPr lang="zh-CN" altLang="en-US" sz="3200">
                <a:sym typeface="+mn-ea"/>
              </a:rPr>
              <a:t>图中所圈的是晨昏线的一半，请分辨：这是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28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线（填晨</a:t>
            </a:r>
            <a:r>
              <a:rPr lang="en-US" altLang="zh-CN" sz="3200">
                <a:sym typeface="+mn-ea"/>
              </a:rPr>
              <a:t>/</a:t>
            </a:r>
            <a:r>
              <a:rPr lang="zh-CN" altLang="en-US" sz="3200">
                <a:sym typeface="+mn-ea"/>
              </a:rPr>
              <a:t>昏）。</a:t>
            </a:r>
            <a:endParaRPr lang="zh-CN" altLang="en-US" sz="3200"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871845" y="1582420"/>
            <a:ext cx="813435" cy="3887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800" b="1">
                <a:solidFill>
                  <a:srgbClr val="FF0000">
                    <a:alpha val="41000"/>
                  </a:srgbClr>
                </a:solidFill>
                <a:effectLst/>
              </a:rPr>
              <a:t>太</a:t>
            </a:r>
            <a:endParaRPr lang="zh-CN" altLang="en-US" sz="4800" b="1">
              <a:solidFill>
                <a:srgbClr val="FF0000">
                  <a:alpha val="41000"/>
                </a:srgbClr>
              </a:solidFill>
              <a:effectLst/>
            </a:endParaRPr>
          </a:p>
          <a:p>
            <a:endParaRPr lang="zh-CN" altLang="en-US" sz="4800" b="1">
              <a:solidFill>
                <a:srgbClr val="FF0000">
                  <a:alpha val="41000"/>
                </a:srgbClr>
              </a:solidFill>
              <a:effectLst/>
            </a:endParaRPr>
          </a:p>
          <a:p>
            <a:r>
              <a:rPr lang="zh-CN" altLang="en-US" sz="4800" b="1">
                <a:solidFill>
                  <a:srgbClr val="FF0000">
                    <a:alpha val="41000"/>
                  </a:srgbClr>
                </a:solidFill>
                <a:effectLst/>
              </a:rPr>
              <a:t>阳</a:t>
            </a:r>
            <a:endParaRPr lang="zh-CN" altLang="en-US" sz="4800" b="1">
              <a:solidFill>
                <a:srgbClr val="FF0000">
                  <a:alpha val="41000"/>
                </a:srgbClr>
              </a:solidFill>
              <a:effectLst/>
            </a:endParaRPr>
          </a:p>
          <a:p>
            <a:endParaRPr lang="zh-CN" altLang="en-US" sz="4800" b="1">
              <a:solidFill>
                <a:srgbClr val="FF0000">
                  <a:alpha val="41000"/>
                </a:srgbClr>
              </a:solidFill>
              <a:effectLst/>
            </a:endParaRPr>
          </a:p>
          <a:p>
            <a:r>
              <a:rPr lang="zh-CN" altLang="en-US" sz="4800" b="1">
                <a:solidFill>
                  <a:srgbClr val="FF0000">
                    <a:alpha val="41000"/>
                  </a:srgbClr>
                </a:solidFill>
                <a:effectLst/>
              </a:rPr>
              <a:t>光</a:t>
            </a:r>
            <a:endParaRPr lang="zh-CN" altLang="en-US" sz="4800" b="1">
              <a:solidFill>
                <a:srgbClr val="FF0000">
                  <a:alpha val="41000"/>
                </a:srgbClr>
              </a:solidFill>
              <a:effectLst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repeatCount="indefinite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 rctx="PPT">
                                        <p:cTn id="37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9167 -0.255648 L 0.415833 0.266667 " pathEditMode="relative" rAng="0" ptsTypes="">
                                      <p:cBhvr>
                                        <p:cTn id="43" dur="2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6" y="3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/>
      <p:bldP spid="5" grpId="0" animBg="1"/>
      <p:bldP spid="5" grpId="1" animBg="1"/>
      <p:bldP spid="2" grpId="0"/>
      <p:bldP spid="7" grpId="0"/>
      <p:bldP spid="8" grpId="0"/>
      <p:bldP spid="9" grpId="0"/>
      <p:bldP spid="2" grpId="1"/>
      <p:bldP spid="16" grpId="1" animBg="1"/>
      <p:bldP spid="7" grpId="1"/>
      <p:bldP spid="8" grpId="1"/>
      <p:bldP spid="9" grpId="1"/>
      <p:bldP spid="36" grpId="1" animBg="1"/>
      <p:bldP spid="40" grpId="0" bldLvl="0" animBg="1"/>
      <p:bldP spid="40" grpId="1" animBg="1"/>
      <p:bldP spid="39" grpId="0" animBg="1"/>
      <p:bldP spid="39" grpId="1" animBg="1"/>
      <p:bldP spid="42" grpId="0"/>
      <p:bldP spid="42" grpId="1"/>
      <p:bldP spid="47" grpId="0"/>
      <p:bldP spid="4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" name="上箭头 90"/>
          <p:cNvSpPr/>
          <p:nvPr/>
        </p:nvSpPr>
        <p:spPr>
          <a:xfrm flipV="1">
            <a:off x="3151505" y="4105275"/>
            <a:ext cx="335915" cy="633095"/>
          </a:xfrm>
          <a:prstGeom prst="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762000" y="1861185"/>
            <a:ext cx="5257800" cy="3128010"/>
          </a:xfrm>
          <a:prstGeom prst="ellipse">
            <a:avLst/>
          </a:pr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>
            <a:off x="-6277610" y="-1332865"/>
            <a:ext cx="20433665" cy="110661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285" h="11543">
                <a:moveTo>
                  <a:pt x="9599" y="2707"/>
                </a:moveTo>
                <a:cubicBezTo>
                  <a:pt x="8089" y="2707"/>
                  <a:pt x="6864" y="3913"/>
                  <a:pt x="6864" y="5400"/>
                </a:cubicBezTo>
                <a:cubicBezTo>
                  <a:pt x="6864" y="6887"/>
                  <a:pt x="8089" y="8093"/>
                  <a:pt x="9599" y="8093"/>
                </a:cubicBezTo>
                <a:cubicBezTo>
                  <a:pt x="11110" y="8093"/>
                  <a:pt x="12335" y="6887"/>
                  <a:pt x="12335" y="5400"/>
                </a:cubicBezTo>
                <a:cubicBezTo>
                  <a:pt x="12335" y="3913"/>
                  <a:pt x="11110" y="2707"/>
                  <a:pt x="9599" y="2707"/>
                </a:cubicBezTo>
                <a:close/>
                <a:moveTo>
                  <a:pt x="0" y="0"/>
                </a:moveTo>
                <a:lnTo>
                  <a:pt x="21285" y="0"/>
                </a:lnTo>
                <a:lnTo>
                  <a:pt x="21285" y="11543"/>
                </a:lnTo>
                <a:lnTo>
                  <a:pt x="0" y="1154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第二节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地球的运动</a:t>
            </a:r>
            <a:endParaRPr lang="en-US" altLang="zh-CN" sz="3200">
              <a:latin typeface="+mj-ea"/>
              <a:ea typeface="+mj-ea"/>
              <a:cs typeface="+mj-ea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89230" y="2861310"/>
            <a:ext cx="1368000" cy="1260000"/>
            <a:chOff x="298" y="4687"/>
            <a:chExt cx="3061" cy="2834"/>
          </a:xfrm>
        </p:grpSpPr>
        <p:grpSp>
          <p:nvGrpSpPr>
            <p:cNvPr id="43" name="组合 42"/>
            <p:cNvGrpSpPr/>
            <p:nvPr/>
          </p:nvGrpSpPr>
          <p:grpSpPr>
            <a:xfrm rot="0">
              <a:off x="337" y="4687"/>
              <a:ext cx="2903" cy="2835"/>
              <a:chOff x="855" y="1482"/>
              <a:chExt cx="8207" cy="8080"/>
            </a:xfrm>
          </p:grpSpPr>
          <p:sp>
            <p:nvSpPr>
              <p:cNvPr id="44" name="椭圆 43"/>
              <p:cNvSpPr/>
              <p:nvPr/>
            </p:nvSpPr>
            <p:spPr>
              <a:xfrm rot="1260000">
                <a:off x="855" y="1482"/>
                <a:ext cx="8206" cy="808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" name="椭圆 44"/>
              <p:cNvSpPr/>
              <p:nvPr/>
            </p:nvSpPr>
            <p:spPr>
              <a:xfrm rot="1260000">
                <a:off x="856" y="1482"/>
                <a:ext cx="8206" cy="808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tx1">
                      <a:alpha val="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46" name="直接连接符 45"/>
            <p:cNvCxnSpPr/>
            <p:nvPr/>
          </p:nvCxnSpPr>
          <p:spPr>
            <a:xfrm rot="1260000">
              <a:off x="379" y="6077"/>
              <a:ext cx="2845" cy="11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rot="1260000">
              <a:off x="561" y="5714"/>
              <a:ext cx="2799" cy="4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rot="1260000">
              <a:off x="1815" y="4841"/>
              <a:ext cx="884" cy="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1260000" flipV="1">
              <a:off x="835" y="7312"/>
              <a:ext cx="917" cy="5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260000">
              <a:off x="298" y="6460"/>
              <a:ext cx="2761" cy="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51" name="直角三角形 50"/>
          <p:cNvSpPr/>
          <p:nvPr/>
        </p:nvSpPr>
        <p:spPr>
          <a:xfrm rot="10800000">
            <a:off x="8058150" y="-106045"/>
            <a:ext cx="4303395" cy="163576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8" name="组合 97"/>
          <p:cNvGrpSpPr/>
          <p:nvPr/>
        </p:nvGrpSpPr>
        <p:grpSpPr>
          <a:xfrm>
            <a:off x="2587625" y="4367530"/>
            <a:ext cx="1368425" cy="1259840"/>
            <a:chOff x="4075" y="6878"/>
            <a:chExt cx="2155" cy="1984"/>
          </a:xfrm>
        </p:grpSpPr>
        <p:grpSp>
          <p:nvGrpSpPr>
            <p:cNvPr id="55" name="组合 54"/>
            <p:cNvGrpSpPr/>
            <p:nvPr/>
          </p:nvGrpSpPr>
          <p:grpSpPr>
            <a:xfrm rot="0">
              <a:off x="4102" y="6878"/>
              <a:ext cx="2043" cy="1985"/>
              <a:chOff x="855" y="1482"/>
              <a:chExt cx="8207" cy="8080"/>
            </a:xfrm>
          </p:grpSpPr>
          <p:sp>
            <p:nvSpPr>
              <p:cNvPr id="56" name="椭圆 55"/>
              <p:cNvSpPr/>
              <p:nvPr/>
            </p:nvSpPr>
            <p:spPr>
              <a:xfrm rot="1260000">
                <a:off x="855" y="1482"/>
                <a:ext cx="8206" cy="808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" name="椭圆 56"/>
              <p:cNvSpPr/>
              <p:nvPr/>
            </p:nvSpPr>
            <p:spPr>
              <a:xfrm rot="1260000">
                <a:off x="856" y="1482"/>
                <a:ext cx="8206" cy="8080"/>
              </a:xfrm>
              <a:prstGeom prst="ellipse">
                <a:avLst/>
              </a:prstGeom>
              <a:solidFill>
                <a:schemeClr val="tx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58" name="直接连接符 57"/>
            <p:cNvCxnSpPr/>
            <p:nvPr/>
          </p:nvCxnSpPr>
          <p:spPr>
            <a:xfrm rot="1260000">
              <a:off x="4132" y="7851"/>
              <a:ext cx="2002" cy="8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rot="1260000">
              <a:off x="4260" y="7597"/>
              <a:ext cx="1970" cy="3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1260000">
              <a:off x="5143" y="6986"/>
              <a:ext cx="622" cy="1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rot="1260000" flipV="1">
              <a:off x="4453" y="8716"/>
              <a:ext cx="645" cy="4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1260000">
              <a:off x="4075" y="8119"/>
              <a:ext cx="1943" cy="1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2665095" y="1261745"/>
            <a:ext cx="1368000" cy="1260000"/>
            <a:chOff x="298" y="4687"/>
            <a:chExt cx="3061" cy="2834"/>
          </a:xfrm>
        </p:grpSpPr>
        <p:grpSp>
          <p:nvGrpSpPr>
            <p:cNvPr id="64" name="组合 63"/>
            <p:cNvGrpSpPr/>
            <p:nvPr/>
          </p:nvGrpSpPr>
          <p:grpSpPr>
            <a:xfrm rot="0">
              <a:off x="337" y="4687"/>
              <a:ext cx="2903" cy="2835"/>
              <a:chOff x="855" y="1482"/>
              <a:chExt cx="8207" cy="8080"/>
            </a:xfrm>
          </p:grpSpPr>
          <p:sp>
            <p:nvSpPr>
              <p:cNvPr id="65" name="椭圆 64"/>
              <p:cNvSpPr/>
              <p:nvPr/>
            </p:nvSpPr>
            <p:spPr>
              <a:xfrm rot="1260000">
                <a:off x="855" y="1482"/>
                <a:ext cx="8206" cy="808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 rot="1260000">
                <a:off x="856" y="1482"/>
                <a:ext cx="8206" cy="808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tx1">
                      <a:alpha val="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67" name="直接连接符 66"/>
            <p:cNvCxnSpPr/>
            <p:nvPr/>
          </p:nvCxnSpPr>
          <p:spPr>
            <a:xfrm rot="1260000">
              <a:off x="379" y="6077"/>
              <a:ext cx="2845" cy="11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rot="1260000">
              <a:off x="561" y="5714"/>
              <a:ext cx="2799" cy="4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1260000">
              <a:off x="1815" y="4841"/>
              <a:ext cx="884" cy="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1260000" flipV="1">
              <a:off x="835" y="7312"/>
              <a:ext cx="917" cy="5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1260000">
              <a:off x="298" y="6460"/>
              <a:ext cx="2761" cy="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2" name="组合 71"/>
          <p:cNvGrpSpPr/>
          <p:nvPr/>
        </p:nvGrpSpPr>
        <p:grpSpPr>
          <a:xfrm>
            <a:off x="5328920" y="2956560"/>
            <a:ext cx="1368000" cy="1260000"/>
            <a:chOff x="298" y="4687"/>
            <a:chExt cx="3061" cy="2834"/>
          </a:xfrm>
        </p:grpSpPr>
        <p:grpSp>
          <p:nvGrpSpPr>
            <p:cNvPr id="73" name="组合 72"/>
            <p:cNvGrpSpPr/>
            <p:nvPr/>
          </p:nvGrpSpPr>
          <p:grpSpPr>
            <a:xfrm rot="0">
              <a:off x="337" y="4687"/>
              <a:ext cx="2903" cy="2835"/>
              <a:chOff x="855" y="1482"/>
              <a:chExt cx="8207" cy="8080"/>
            </a:xfrm>
          </p:grpSpPr>
          <p:sp>
            <p:nvSpPr>
              <p:cNvPr id="74" name="椭圆 73"/>
              <p:cNvSpPr/>
              <p:nvPr/>
            </p:nvSpPr>
            <p:spPr>
              <a:xfrm rot="1260000">
                <a:off x="855" y="1482"/>
                <a:ext cx="8206" cy="808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椭圆 74"/>
              <p:cNvSpPr/>
              <p:nvPr/>
            </p:nvSpPr>
            <p:spPr>
              <a:xfrm rot="1260000">
                <a:off x="856" y="1482"/>
                <a:ext cx="8206" cy="808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tx1">
                      <a:alpha val="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76" name="直接连接符 75"/>
            <p:cNvCxnSpPr/>
            <p:nvPr/>
          </p:nvCxnSpPr>
          <p:spPr>
            <a:xfrm rot="1260000">
              <a:off x="379" y="6077"/>
              <a:ext cx="2845" cy="11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rot="1260000">
              <a:off x="561" y="5714"/>
              <a:ext cx="2799" cy="4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rot="1260000">
              <a:off x="1815" y="4841"/>
              <a:ext cx="884" cy="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rot="1260000" flipV="1">
              <a:off x="835" y="7312"/>
              <a:ext cx="917" cy="5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rot="1260000">
              <a:off x="298" y="6460"/>
              <a:ext cx="2761" cy="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1" name="椭圆 80"/>
          <p:cNvSpPr/>
          <p:nvPr/>
        </p:nvSpPr>
        <p:spPr>
          <a:xfrm>
            <a:off x="3084830" y="3288030"/>
            <a:ext cx="509905" cy="501015"/>
          </a:xfrm>
          <a:prstGeom prst="ellipse">
            <a:avLst/>
          </a:prstGeom>
          <a:solidFill>
            <a:schemeClr val="accent2"/>
          </a:solidFill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上箭头 89"/>
          <p:cNvSpPr/>
          <p:nvPr/>
        </p:nvSpPr>
        <p:spPr>
          <a:xfrm>
            <a:off x="3214370" y="1881505"/>
            <a:ext cx="273050" cy="1186180"/>
          </a:xfrm>
          <a:prstGeom prst="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上箭头 91"/>
          <p:cNvSpPr/>
          <p:nvPr/>
        </p:nvSpPr>
        <p:spPr>
          <a:xfrm rot="16200000">
            <a:off x="2080260" y="2882265"/>
            <a:ext cx="351155" cy="1280795"/>
          </a:xfrm>
          <a:prstGeom prst="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上箭头 92"/>
          <p:cNvSpPr/>
          <p:nvPr/>
        </p:nvSpPr>
        <p:spPr>
          <a:xfrm rot="5400000" flipH="1">
            <a:off x="4393565" y="2736215"/>
            <a:ext cx="365760" cy="1587500"/>
          </a:xfrm>
          <a:prstGeom prst="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 rot="20340000" flipH="1">
            <a:off x="206761" y="2910793"/>
            <a:ext cx="960755" cy="1248410"/>
          </a:xfrm>
          <a:custGeom>
            <a:avLst/>
            <a:gdLst>
              <a:gd name="connsiteX0" fmla="*/ 498 w 1513"/>
              <a:gd name="connsiteY0" fmla="*/ 0 h 1966"/>
              <a:gd name="connsiteX1" fmla="*/ 1513 w 1513"/>
              <a:gd name="connsiteY1" fmla="*/ 1030 h 1966"/>
              <a:gd name="connsiteX2" fmla="*/ 776 w 1513"/>
              <a:gd name="connsiteY2" fmla="*/ 1966 h 1966"/>
              <a:gd name="connsiteX3" fmla="*/ 781 w 1513"/>
              <a:gd name="connsiteY3" fmla="*/ 1964 h 1966"/>
              <a:gd name="connsiteX4" fmla="*/ 0 w 1513"/>
              <a:gd name="connsiteY4" fmla="*/ 136 h 1966"/>
              <a:gd name="connsiteX5" fmla="*/ 86 w 1513"/>
              <a:gd name="connsiteY5" fmla="*/ 91 h 1966"/>
              <a:gd name="connsiteX6" fmla="*/ 498 w 1513"/>
              <a:gd name="connsiteY6" fmla="*/ 0 h 1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3" h="1966">
                <a:moveTo>
                  <a:pt x="498" y="0"/>
                </a:moveTo>
                <a:cubicBezTo>
                  <a:pt x="1095" y="0"/>
                  <a:pt x="1513" y="493"/>
                  <a:pt x="1513" y="1030"/>
                </a:cubicBezTo>
                <a:cubicBezTo>
                  <a:pt x="1513" y="1433"/>
                  <a:pt x="1165" y="1818"/>
                  <a:pt x="776" y="1966"/>
                </a:cubicBezTo>
                <a:lnTo>
                  <a:pt x="781" y="1964"/>
                </a:lnTo>
                <a:lnTo>
                  <a:pt x="0" y="136"/>
                </a:lnTo>
                <a:lnTo>
                  <a:pt x="86" y="91"/>
                </a:lnTo>
                <a:cubicBezTo>
                  <a:pt x="195" y="58"/>
                  <a:pt x="376" y="0"/>
                  <a:pt x="498" y="0"/>
                </a:cubicBezTo>
                <a:close/>
              </a:path>
            </a:pathLst>
          </a:cu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5" name="任意多边形 94"/>
          <p:cNvSpPr/>
          <p:nvPr/>
        </p:nvSpPr>
        <p:spPr>
          <a:xfrm rot="1260000">
            <a:off x="5688081" y="3012393"/>
            <a:ext cx="960755" cy="1248410"/>
          </a:xfrm>
          <a:custGeom>
            <a:avLst/>
            <a:gdLst>
              <a:gd name="connsiteX0" fmla="*/ 498 w 1513"/>
              <a:gd name="connsiteY0" fmla="*/ 0 h 1966"/>
              <a:gd name="connsiteX1" fmla="*/ 1513 w 1513"/>
              <a:gd name="connsiteY1" fmla="*/ 1030 h 1966"/>
              <a:gd name="connsiteX2" fmla="*/ 776 w 1513"/>
              <a:gd name="connsiteY2" fmla="*/ 1966 h 1966"/>
              <a:gd name="connsiteX3" fmla="*/ 781 w 1513"/>
              <a:gd name="connsiteY3" fmla="*/ 1964 h 1966"/>
              <a:gd name="connsiteX4" fmla="*/ 0 w 1513"/>
              <a:gd name="connsiteY4" fmla="*/ 136 h 1966"/>
              <a:gd name="connsiteX5" fmla="*/ 86 w 1513"/>
              <a:gd name="connsiteY5" fmla="*/ 91 h 1966"/>
              <a:gd name="connsiteX6" fmla="*/ 498 w 1513"/>
              <a:gd name="connsiteY6" fmla="*/ 0 h 1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3" h="1966">
                <a:moveTo>
                  <a:pt x="498" y="0"/>
                </a:moveTo>
                <a:cubicBezTo>
                  <a:pt x="1095" y="0"/>
                  <a:pt x="1513" y="493"/>
                  <a:pt x="1513" y="1030"/>
                </a:cubicBezTo>
                <a:cubicBezTo>
                  <a:pt x="1513" y="1433"/>
                  <a:pt x="1165" y="1818"/>
                  <a:pt x="776" y="1966"/>
                </a:cubicBezTo>
                <a:lnTo>
                  <a:pt x="781" y="1964"/>
                </a:lnTo>
                <a:lnTo>
                  <a:pt x="0" y="136"/>
                </a:lnTo>
                <a:lnTo>
                  <a:pt x="86" y="91"/>
                </a:lnTo>
                <a:cubicBezTo>
                  <a:pt x="195" y="58"/>
                  <a:pt x="376" y="0"/>
                  <a:pt x="498" y="0"/>
                </a:cubicBezTo>
                <a:close/>
              </a:path>
            </a:pathLst>
          </a:cu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6656070" y="212725"/>
            <a:ext cx="5589270" cy="674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ym typeface="+mn-ea"/>
              </a:rPr>
              <a:t>如右图，这是地球的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29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运动，这种运动的绕转中心是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30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，运动方向是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31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，周期是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32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，会产生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33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（</a:t>
            </a:r>
            <a:r>
              <a:rPr lang="zh-CN" altLang="en-US" sz="3200" b="1">
                <a:sym typeface="+mn-ea"/>
              </a:rPr>
              <a:t>至少写两种</a:t>
            </a:r>
            <a:r>
              <a:rPr lang="zh-CN" altLang="en-US" sz="3200">
                <a:sym typeface="+mn-ea"/>
              </a:rPr>
              <a:t>）等现象。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A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34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节气，时间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35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 u="sng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B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36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节气，时间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37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 u="sng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C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38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节气，时间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39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 u="sng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D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40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节气，时间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41</a:t>
            </a:r>
            <a:r>
              <a:rPr lang="zh-CN" altLang="en-US" sz="3200" u="sng">
                <a:sym typeface="+mn-ea"/>
              </a:rPr>
              <a:t>）。</a:t>
            </a:r>
            <a:endParaRPr lang="zh-CN" altLang="en-US" sz="3200" u="sng">
              <a:sym typeface="+mn-ea"/>
            </a:endParaRPr>
          </a:p>
          <a:p>
            <a:r>
              <a:rPr lang="zh-CN" altLang="en-US" sz="3200">
                <a:sym typeface="+mn-ea"/>
              </a:rPr>
              <a:t>（节气均指北半球）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BD</a:t>
            </a:r>
            <a:r>
              <a:rPr lang="zh-CN" altLang="en-US" sz="3200">
                <a:sym typeface="+mn-ea"/>
              </a:rPr>
              <a:t>段昼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42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夜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43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，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CA</a:t>
            </a:r>
            <a:r>
              <a:rPr lang="zh-CN" altLang="en-US" sz="3200">
                <a:sym typeface="+mn-ea"/>
              </a:rPr>
              <a:t>段昼变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44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夜变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45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。</a:t>
            </a:r>
            <a:r>
              <a:rPr lang="en-US" altLang="zh-CN" sz="3200">
                <a:sym typeface="+mn-ea"/>
              </a:rPr>
              <a:t>    </a:t>
            </a:r>
            <a:endParaRPr lang="en-US" altLang="zh-CN" sz="3200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32840" y="2359025"/>
            <a:ext cx="518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A</a:t>
            </a:r>
            <a:endParaRPr lang="en-US" altLang="zh-CN" sz="4000"/>
          </a:p>
        </p:txBody>
      </p:sp>
      <p:sp>
        <p:nvSpPr>
          <p:cNvPr id="101" name="文本框 100"/>
          <p:cNvSpPr txBox="1"/>
          <p:nvPr/>
        </p:nvSpPr>
        <p:spPr>
          <a:xfrm>
            <a:off x="3813175" y="4349115"/>
            <a:ext cx="518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B</a:t>
            </a:r>
            <a:endParaRPr lang="en-US" altLang="zh-CN" sz="4000"/>
          </a:p>
        </p:txBody>
      </p:sp>
      <p:sp>
        <p:nvSpPr>
          <p:cNvPr id="102" name="文本框 101"/>
          <p:cNvSpPr txBox="1"/>
          <p:nvPr/>
        </p:nvSpPr>
        <p:spPr>
          <a:xfrm>
            <a:off x="5064125" y="2670810"/>
            <a:ext cx="518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C</a:t>
            </a:r>
            <a:endParaRPr lang="en-US" altLang="zh-CN" sz="4000"/>
          </a:p>
        </p:txBody>
      </p:sp>
      <p:sp>
        <p:nvSpPr>
          <p:cNvPr id="104" name="文本框 103"/>
          <p:cNvSpPr txBox="1"/>
          <p:nvPr/>
        </p:nvSpPr>
        <p:spPr>
          <a:xfrm>
            <a:off x="3870325" y="1816735"/>
            <a:ext cx="518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D</a:t>
            </a:r>
            <a:endParaRPr lang="en-US" altLang="zh-CN" sz="4000"/>
          </a:p>
        </p:txBody>
      </p:sp>
      <p:sp>
        <p:nvSpPr>
          <p:cNvPr id="2" name="文本框 1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543 0.000957557 C -0.00020742 0.126029 0.0952276 0.22461 0.211593 0.220998 C 0.327955 0.217389 0.421399 0.112946 0.420169 -0.0121257 C 0.418941 -0.137204 0.323503 -0.235783 0.207143 -0.23217 C 0.0907785 -0.22856 -0.00266342 -0.12412 -0.00143543 0.000957557 Z " pathEditMode="relative" rAng="-2118647760" ptsTypes="">
                                      <p:cBhvr>
                                        <p:cTn id="13" dur="5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" y="-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1"/>
      <p:bldP spid="51" grpId="0" bldLvl="0" animBg="1"/>
      <p:bldP spid="51" grpId="1" animBg="1"/>
      <p:bldP spid="34" grpId="0" bldLvl="0" animBg="1"/>
      <p:bldP spid="34" grpId="1" animBg="1"/>
      <p:bldP spid="91" grpId="0" bldLvl="0" animBg="1"/>
      <p:bldP spid="90" grpId="0" bldLvl="0" animBg="1"/>
      <p:bldP spid="92" grpId="0" bldLvl="0" animBg="1"/>
      <p:bldP spid="93" grpId="0" bldLvl="0" animBg="1"/>
      <p:bldP spid="91" grpId="1" animBg="1"/>
      <p:bldP spid="90" grpId="1" animBg="1"/>
      <p:bldP spid="92" grpId="1" animBg="1"/>
      <p:bldP spid="93" grpId="1" animBg="1"/>
      <p:bldP spid="94" grpId="0" animBg="1"/>
      <p:bldP spid="94" grpId="1" animBg="1"/>
      <p:bldP spid="95" grpId="0" animBg="1"/>
      <p:bldP spid="95" grpId="1" animBg="1"/>
      <p:bldP spid="99" grpId="1" animBg="1"/>
      <p:bldP spid="100" grpId="0"/>
      <p:bldP spid="101" grpId="0"/>
      <p:bldP spid="102" grpId="0"/>
      <p:bldP spid="104" grpId="0"/>
      <p:bldP spid="100" grpId="1"/>
      <p:bldP spid="101" grpId="1"/>
      <p:bldP spid="102" grpId="1"/>
      <p:bldP spid="104" grpId="1"/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-5511800" y="-2512695"/>
            <a:ext cx="19940400" cy="10213200"/>
            <a:chOff x="-3071" y="146"/>
            <a:chExt cx="20328" cy="10164"/>
          </a:xfrm>
        </p:grpSpPr>
        <p:pic>
          <p:nvPicPr>
            <p:cNvPr id="14" name="图片 13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93" y="146"/>
              <a:ext cx="10164" cy="10164"/>
            </a:xfrm>
            <a:prstGeom prst="rect">
              <a:avLst/>
            </a:prstGeom>
          </p:spPr>
        </p:pic>
        <p:pic>
          <p:nvPicPr>
            <p:cNvPr id="19" name="图片 18" descr="15824be1ea563a9a8aca931bba90a2296ad0637518922-oqh9G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3071" y="146"/>
              <a:ext cx="10164" cy="10164"/>
            </a:xfrm>
            <a:prstGeom prst="rect">
              <a:avLst/>
            </a:prstGeom>
          </p:spPr>
        </p:pic>
      </p:grpSp>
      <p:sp>
        <p:nvSpPr>
          <p:cNvPr id="6" name="任意多边形 5"/>
          <p:cNvSpPr/>
          <p:nvPr/>
        </p:nvSpPr>
        <p:spPr>
          <a:xfrm>
            <a:off x="-6263005" y="-1697990"/>
            <a:ext cx="20433665" cy="110661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285" h="11543">
                <a:moveTo>
                  <a:pt x="9599" y="2707"/>
                </a:moveTo>
                <a:cubicBezTo>
                  <a:pt x="8089" y="2707"/>
                  <a:pt x="6864" y="3913"/>
                  <a:pt x="6864" y="5400"/>
                </a:cubicBezTo>
                <a:cubicBezTo>
                  <a:pt x="6864" y="6887"/>
                  <a:pt x="8089" y="8093"/>
                  <a:pt x="9599" y="8093"/>
                </a:cubicBezTo>
                <a:cubicBezTo>
                  <a:pt x="11110" y="8093"/>
                  <a:pt x="12335" y="6887"/>
                  <a:pt x="12335" y="5400"/>
                </a:cubicBezTo>
                <a:cubicBezTo>
                  <a:pt x="12335" y="3913"/>
                  <a:pt x="11110" y="2707"/>
                  <a:pt x="9599" y="2707"/>
                </a:cubicBezTo>
                <a:close/>
                <a:moveTo>
                  <a:pt x="0" y="0"/>
                </a:moveTo>
                <a:lnTo>
                  <a:pt x="21285" y="0"/>
                </a:lnTo>
                <a:lnTo>
                  <a:pt x="21285" y="11543"/>
                </a:lnTo>
                <a:lnTo>
                  <a:pt x="0" y="1154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58775" y="892175"/>
            <a:ext cx="5210810" cy="51308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692900" y="51435"/>
            <a:ext cx="5885815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/>
          </a:p>
          <a:p>
            <a:endParaRPr lang="zh-CN" altLang="en-US" sz="3200"/>
          </a:p>
          <a:p>
            <a:endParaRPr lang="zh-CN" altLang="en-US" sz="3200"/>
          </a:p>
          <a:p>
            <a:endParaRPr lang="zh-CN" altLang="en-US" sz="3200"/>
          </a:p>
          <a:p>
            <a:r>
              <a:rPr lang="en-US" altLang="zh-CN" sz="3200"/>
              <a:t>A</a:t>
            </a:r>
            <a:r>
              <a:rPr lang="zh-CN" altLang="en-US" sz="3200"/>
              <a:t>的是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46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带；</a:t>
            </a:r>
            <a:endParaRPr lang="en-US" altLang="en-US" sz="3200" u="sng"/>
          </a:p>
          <a:p>
            <a:r>
              <a:rPr lang="en-US" altLang="zh-CN" sz="3200"/>
              <a:t>B</a:t>
            </a:r>
            <a:r>
              <a:rPr lang="zh-CN" altLang="en-US" sz="3200">
                <a:sym typeface="+mn-ea"/>
              </a:rPr>
              <a:t>的是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47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带；</a:t>
            </a:r>
            <a:endParaRPr lang="en-US" altLang="en-US" sz="3200"/>
          </a:p>
          <a:p>
            <a:r>
              <a:rPr lang="en-US" altLang="zh-CN" sz="3200"/>
              <a:t>C</a:t>
            </a:r>
            <a:r>
              <a:rPr lang="zh-CN" altLang="en-US" sz="3200">
                <a:sym typeface="+mn-ea"/>
              </a:rPr>
              <a:t>的是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48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带。</a:t>
            </a:r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A</a:t>
            </a:r>
            <a:r>
              <a:rPr lang="zh-CN" altLang="en-US" sz="3200">
                <a:sym typeface="+mn-ea"/>
              </a:rPr>
              <a:t>带会有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49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现象。</a:t>
            </a:r>
            <a:endParaRPr lang="en-US" altLang="zh-CN" sz="3200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第二节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地球的运动（五带的划分）</a:t>
            </a:r>
            <a:endParaRPr lang="zh-CN" altLang="en-US" sz="3200">
              <a:latin typeface="+mj-ea"/>
              <a:ea typeface="+mj-ea"/>
              <a:cs typeface="+mj-ea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65760" y="3461385"/>
            <a:ext cx="5107940" cy="19050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35610" y="2745105"/>
            <a:ext cx="5024755" cy="6985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084705" y="1080770"/>
            <a:ext cx="1586230" cy="3175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2045335" y="5875655"/>
            <a:ext cx="1645920" cy="8890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81330" y="4188460"/>
            <a:ext cx="4956175" cy="3810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656840" y="498475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A</a:t>
            </a:r>
            <a:endParaRPr lang="en-US" altLang="zh-CN" sz="4000"/>
          </a:p>
        </p:txBody>
      </p:sp>
      <p:sp>
        <p:nvSpPr>
          <p:cNvPr id="7" name="文本框 6"/>
          <p:cNvSpPr txBox="1"/>
          <p:nvPr/>
        </p:nvSpPr>
        <p:spPr>
          <a:xfrm>
            <a:off x="2656840" y="1560830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B</a:t>
            </a:r>
            <a:endParaRPr lang="en-US" altLang="zh-CN" sz="4000"/>
          </a:p>
        </p:txBody>
      </p:sp>
      <p:sp>
        <p:nvSpPr>
          <p:cNvPr id="8" name="文本框 7"/>
          <p:cNvSpPr txBox="1"/>
          <p:nvPr/>
        </p:nvSpPr>
        <p:spPr>
          <a:xfrm>
            <a:off x="2656840" y="3101340"/>
            <a:ext cx="61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C</a:t>
            </a:r>
            <a:endParaRPr lang="en-US" altLang="zh-CN" sz="4000"/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6823 -0.0137963 L 0.440052 -0.0127778 " pathEditMode="relative" rAng="0" ptsTypes="">
                                      <p:cBhvr>
                                        <p:cTn id="34" dur="2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" y="1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/>
      <p:bldP spid="2" grpId="0"/>
      <p:bldP spid="7" grpId="0"/>
      <p:bldP spid="8" grpId="0"/>
      <p:bldP spid="21" grpId="1"/>
      <p:bldP spid="2" grpId="1"/>
      <p:bldP spid="7" grpId="1"/>
      <p:bldP spid="8" grpId="1"/>
      <p:bldP spid="47" grpId="0"/>
      <p:bldP spid="4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第三节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地图</a:t>
            </a:r>
            <a:endParaRPr lang="zh-CN" altLang="en-US" sz="3200">
              <a:latin typeface="+mj-ea"/>
              <a:ea typeface="+mj-ea"/>
              <a:cs typeface="+mj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0" y="781685"/>
            <a:ext cx="12192000" cy="5335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>
              <a:sym typeface="+mn-ea"/>
            </a:endParaRPr>
          </a:p>
          <a:p>
            <a:r>
              <a:rPr lang="zh-CN" altLang="en-US" sz="3200">
                <a:sym typeface="+mn-ea"/>
              </a:rPr>
              <a:t>地图的三要素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50</a:t>
            </a:r>
            <a:r>
              <a:rPr lang="zh-CN" altLang="en-US" sz="3200" u="sng">
                <a:sym typeface="+mn-ea"/>
              </a:rPr>
              <a:t>）、（</a:t>
            </a:r>
            <a:r>
              <a:rPr lang="en-US" altLang="zh-CN" sz="3200" u="sng">
                <a:sym typeface="+mn-ea"/>
              </a:rPr>
              <a:t>51</a:t>
            </a:r>
            <a:r>
              <a:rPr lang="zh-CN" altLang="en-US" sz="3200" u="sng">
                <a:sym typeface="+mn-ea"/>
              </a:rPr>
              <a:t>）、（</a:t>
            </a:r>
            <a:r>
              <a:rPr lang="en-US" altLang="zh-CN" sz="3200" u="sng">
                <a:sym typeface="+mn-ea"/>
              </a:rPr>
              <a:t>52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endParaRPr lang="en-US" altLang="zh-CN" sz="3200"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144145" y="2382520"/>
          <a:ext cx="7012305" cy="256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435"/>
                <a:gridCol w="2337435"/>
                <a:gridCol w="2337435"/>
              </a:tblGrid>
              <a:tr h="85471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大比例尺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小比例尺</a:t>
                      </a:r>
                      <a:endParaRPr lang="zh-CN" altLang="en-US" sz="3200"/>
                    </a:p>
                  </a:txBody>
                  <a:tcPr/>
                </a:tc>
              </a:tr>
              <a:tr h="854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范围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（</a:t>
                      </a:r>
                      <a:r>
                        <a:rPr lang="en-US" altLang="zh-CN" sz="3200"/>
                        <a:t>53</a:t>
                      </a:r>
                      <a:r>
                        <a:rPr lang="zh-CN" altLang="en-US" sz="3200"/>
                        <a:t>）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（</a:t>
                      </a:r>
                      <a:r>
                        <a:rPr lang="en-US" altLang="zh-CN" sz="3200"/>
                        <a:t>54</a:t>
                      </a:r>
                      <a:r>
                        <a:rPr lang="zh-CN" altLang="en-US" sz="3200"/>
                        <a:t>）</a:t>
                      </a:r>
                      <a:endParaRPr lang="zh-CN" altLang="en-US" sz="3200"/>
                    </a:p>
                  </a:txBody>
                  <a:tcPr/>
                </a:tc>
              </a:tr>
              <a:tr h="854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内容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（</a:t>
                      </a:r>
                      <a:r>
                        <a:rPr lang="en-US" altLang="zh-CN" sz="3200"/>
                        <a:t>55</a:t>
                      </a:r>
                      <a:r>
                        <a:rPr lang="zh-CN" altLang="en-US" sz="3200"/>
                        <a:t>）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（</a:t>
                      </a:r>
                      <a:r>
                        <a:rPr lang="en-US" altLang="zh-CN" sz="3200"/>
                        <a:t>56</a:t>
                      </a:r>
                      <a:r>
                        <a:rPr lang="zh-CN" altLang="en-US" sz="3200"/>
                        <a:t>）</a:t>
                      </a:r>
                      <a:endParaRPr lang="zh-CN" altLang="en-US" sz="3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第三节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地图（辨别</a:t>
            </a:r>
            <a:r>
              <a:rPr lang="en-US" altLang="zh-CN" sz="3200">
                <a:latin typeface="+mj-ea"/>
                <a:ea typeface="+mj-ea"/>
                <a:cs typeface="+mj-ea"/>
              </a:rPr>
              <a:t>A</a:t>
            </a:r>
            <a:r>
              <a:rPr lang="zh-CN" altLang="en-US" sz="3200">
                <a:latin typeface="+mj-ea"/>
                <a:ea typeface="+mj-ea"/>
                <a:cs typeface="+mj-ea"/>
              </a:rPr>
              <a:t>在</a:t>
            </a:r>
            <a:r>
              <a:rPr lang="en-US" altLang="zh-CN" sz="3200">
                <a:latin typeface="+mj-ea"/>
                <a:ea typeface="+mj-ea"/>
                <a:cs typeface="+mj-ea"/>
              </a:rPr>
              <a:t>B</a:t>
            </a:r>
            <a:r>
              <a:rPr lang="zh-CN" altLang="en-US" sz="3200">
                <a:latin typeface="+mj-ea"/>
                <a:ea typeface="+mj-ea"/>
                <a:cs typeface="+mj-ea"/>
              </a:rPr>
              <a:t>的什么位置）</a:t>
            </a:r>
            <a:endParaRPr lang="zh-CN" altLang="en-US" sz="3200">
              <a:latin typeface="+mj-ea"/>
              <a:ea typeface="+mj-ea"/>
              <a:cs typeface="+mj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92960" y="1753235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A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72200" y="0"/>
            <a:ext cx="601980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r>
              <a:rPr lang="zh-CN" altLang="en-US" sz="3200">
                <a:sym typeface="+mn-ea"/>
              </a:rPr>
              <a:t>这是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57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极；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B</a:t>
            </a:r>
            <a:r>
              <a:rPr lang="zh-CN" altLang="en-US" sz="3200">
                <a:sym typeface="+mn-ea"/>
              </a:rPr>
              <a:t>的坐标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58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A</a:t>
            </a:r>
            <a:r>
              <a:rPr lang="zh-CN" altLang="en-US" sz="3200">
                <a:sym typeface="+mn-ea"/>
              </a:rPr>
              <a:t>在</a:t>
            </a:r>
            <a:r>
              <a:rPr lang="en-US" altLang="zh-CN" sz="3200" b="1">
                <a:sym typeface="+mn-ea"/>
              </a:rPr>
              <a:t>B</a:t>
            </a:r>
            <a:r>
              <a:rPr lang="zh-CN" altLang="en-US" sz="3200">
                <a:sym typeface="+mn-ea"/>
              </a:rPr>
              <a:t>的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59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方向。</a:t>
            </a:r>
            <a:endParaRPr lang="zh-CN" altLang="en-US" sz="3200">
              <a:sym typeface="+mn-ea"/>
            </a:endParaRPr>
          </a:p>
          <a:p>
            <a:endParaRPr lang="en-US" altLang="zh-CN" sz="320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32935" y="2891155"/>
            <a:ext cx="488315" cy="686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>
                <a:solidFill>
                  <a:srgbClr val="FF0000"/>
                </a:solidFill>
              </a:rPr>
              <a:t>B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064760" y="5509260"/>
            <a:ext cx="609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0</a:t>
            </a:r>
            <a:r>
              <a:rPr lang="zh-CN" altLang="en-US" sz="2800"/>
              <a:t>°</a:t>
            </a:r>
            <a:endParaRPr lang="zh-CN" altLang="en-US" sz="2800"/>
          </a:p>
        </p:txBody>
      </p:sp>
      <p:sp>
        <p:nvSpPr>
          <p:cNvPr id="35" name="文本框 34"/>
          <p:cNvSpPr txBox="1"/>
          <p:nvPr/>
        </p:nvSpPr>
        <p:spPr>
          <a:xfrm>
            <a:off x="4608830" y="5182870"/>
            <a:ext cx="703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20</a:t>
            </a:r>
            <a:r>
              <a:rPr lang="zh-CN" altLang="en-US" sz="2800"/>
              <a:t>°</a:t>
            </a:r>
            <a:endParaRPr lang="zh-CN" altLang="en-US" sz="2800"/>
          </a:p>
        </p:txBody>
      </p:sp>
      <p:sp>
        <p:nvSpPr>
          <p:cNvPr id="36" name="文本框 35"/>
          <p:cNvSpPr txBox="1"/>
          <p:nvPr/>
        </p:nvSpPr>
        <p:spPr>
          <a:xfrm>
            <a:off x="4277995" y="4753610"/>
            <a:ext cx="703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40</a:t>
            </a:r>
            <a:r>
              <a:rPr lang="zh-CN" altLang="en-US" sz="2800"/>
              <a:t>°</a:t>
            </a:r>
            <a:endParaRPr lang="zh-CN" altLang="en-US" sz="2800"/>
          </a:p>
        </p:txBody>
      </p:sp>
      <p:sp>
        <p:nvSpPr>
          <p:cNvPr id="38" name="文本框 37"/>
          <p:cNvSpPr txBox="1"/>
          <p:nvPr/>
        </p:nvSpPr>
        <p:spPr>
          <a:xfrm>
            <a:off x="2877185" y="6457315"/>
            <a:ext cx="690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45</a:t>
            </a:r>
            <a:r>
              <a:rPr lang="zh-CN" altLang="en-US" sz="2800"/>
              <a:t>°</a:t>
            </a:r>
            <a:endParaRPr lang="zh-CN" altLang="en-US" sz="2800"/>
          </a:p>
        </p:txBody>
      </p:sp>
      <p:sp>
        <p:nvSpPr>
          <p:cNvPr id="39" name="文本框 38"/>
          <p:cNvSpPr txBox="1"/>
          <p:nvPr/>
        </p:nvSpPr>
        <p:spPr>
          <a:xfrm>
            <a:off x="608330" y="5614035"/>
            <a:ext cx="690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90</a:t>
            </a:r>
            <a:r>
              <a:rPr lang="zh-CN" altLang="en-US" sz="2800"/>
              <a:t>°</a:t>
            </a:r>
            <a:endParaRPr lang="zh-CN" altLang="en-US" sz="2800"/>
          </a:p>
        </p:txBody>
      </p:sp>
      <p:sp>
        <p:nvSpPr>
          <p:cNvPr id="15" name="椭圆 14"/>
          <p:cNvSpPr/>
          <p:nvPr/>
        </p:nvSpPr>
        <p:spPr>
          <a:xfrm>
            <a:off x="1766570" y="2179955"/>
            <a:ext cx="277495" cy="26797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309745" y="3442970"/>
            <a:ext cx="277495" cy="26797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301625" y="662305"/>
            <a:ext cx="5759450" cy="5794375"/>
            <a:chOff x="475" y="1043"/>
            <a:chExt cx="9070" cy="9125"/>
          </a:xfrm>
        </p:grpSpPr>
        <p:sp>
          <p:nvSpPr>
            <p:cNvPr id="23" name="椭圆 22"/>
            <p:cNvSpPr/>
            <p:nvPr/>
          </p:nvSpPr>
          <p:spPr>
            <a:xfrm>
              <a:off x="2176" y="2799"/>
              <a:ext cx="5669" cy="5669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475" y="1098"/>
              <a:ext cx="9071" cy="907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325" y="1948"/>
              <a:ext cx="7370" cy="7370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3026" y="3649"/>
              <a:ext cx="3969" cy="3969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3877" y="4500"/>
              <a:ext cx="2268" cy="2268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7" name="直接连接符 26"/>
            <p:cNvCxnSpPr>
              <a:stCxn id="19" idx="2"/>
              <a:endCxn id="19" idx="6"/>
            </p:cNvCxnSpPr>
            <p:nvPr/>
          </p:nvCxnSpPr>
          <p:spPr>
            <a:xfrm>
              <a:off x="475" y="5634"/>
              <a:ext cx="9071" cy="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stCxn id="19" idx="0"/>
              <a:endCxn id="19" idx="4"/>
            </p:cNvCxnSpPr>
            <p:nvPr/>
          </p:nvCxnSpPr>
          <p:spPr>
            <a:xfrm>
              <a:off x="5011" y="1098"/>
              <a:ext cx="0" cy="90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19" idx="1"/>
              <a:endCxn id="19" idx="5"/>
            </p:cNvCxnSpPr>
            <p:nvPr/>
          </p:nvCxnSpPr>
          <p:spPr>
            <a:xfrm>
              <a:off x="1803" y="2426"/>
              <a:ext cx="6415" cy="64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19" idx="3"/>
              <a:endCxn id="19" idx="7"/>
            </p:cNvCxnSpPr>
            <p:nvPr/>
          </p:nvCxnSpPr>
          <p:spPr>
            <a:xfrm flipV="1">
              <a:off x="1803" y="2426"/>
              <a:ext cx="6415" cy="64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" name="弧形 31"/>
            <p:cNvSpPr/>
            <p:nvPr/>
          </p:nvSpPr>
          <p:spPr>
            <a:xfrm rot="18600000">
              <a:off x="-198" y="2351"/>
              <a:ext cx="3242" cy="627"/>
            </a:xfrm>
            <a:prstGeom prst="arc">
              <a:avLst>
                <a:gd name="adj1" fmla="val 10876069"/>
                <a:gd name="adj2" fmla="val 0"/>
              </a:avLst>
            </a:prstGeom>
            <a:ln w="1905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/>
      <p:bldP spid="15" grpId="1" animBg="1"/>
      <p:bldP spid="16" grpId="1"/>
      <p:bldP spid="7" grpId="0" bldLvl="0" animBg="1"/>
      <p:bldP spid="7" grpId="1" animBg="1"/>
      <p:bldP spid="17" grpId="0"/>
      <p:bldP spid="21" grpId="1"/>
      <p:bldP spid="17" grpId="1"/>
      <p:bldP spid="36" grpId="0"/>
      <p:bldP spid="35" grpId="0"/>
      <p:bldP spid="34" grpId="0"/>
      <p:bldP spid="38" grpId="0"/>
      <p:bldP spid="39" grpId="0"/>
      <p:bldP spid="36" grpId="1"/>
      <p:bldP spid="35" grpId="1"/>
      <p:bldP spid="34" grpId="1"/>
      <p:bldP spid="38" grpId="1"/>
      <p:bldP spid="39" grpId="1"/>
      <p:bldP spid="47" grpId="0"/>
      <p:bldP spid="4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" name="图片 43" descr="等高线地形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8330"/>
            <a:ext cx="7048500" cy="555815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0" y="19685"/>
            <a:ext cx="1219136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第三节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地图（</a:t>
            </a:r>
            <a:r>
              <a:rPr lang="zh-CN" sz="3200">
                <a:latin typeface="+mj-ea"/>
                <a:ea typeface="+mj-ea"/>
                <a:cs typeface="+mj-ea"/>
              </a:rPr>
              <a:t>等高线与地形识别</a:t>
            </a:r>
            <a:r>
              <a:rPr lang="zh-CN" altLang="en-US" sz="3200">
                <a:latin typeface="+mj-ea"/>
                <a:ea typeface="+mj-ea"/>
                <a:cs typeface="+mj-ea"/>
              </a:rPr>
              <a:t>）</a:t>
            </a:r>
            <a:endParaRPr lang="zh-CN" altLang="en-US" sz="3200">
              <a:latin typeface="+mj-ea"/>
              <a:ea typeface="+mj-ea"/>
              <a:cs typeface="+mj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48500" y="0"/>
            <a:ext cx="527748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A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60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B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61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C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62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D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63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G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64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。</a:t>
            </a:r>
            <a:endParaRPr lang="zh-CN" altLang="en-US" sz="3200">
              <a:sym typeface="+mn-ea"/>
            </a:endParaRPr>
          </a:p>
          <a:p>
            <a:r>
              <a:rPr lang="zh-CN" altLang="en-US" sz="3200">
                <a:sym typeface="+mn-ea"/>
              </a:rPr>
              <a:t>（填山体部位）</a:t>
            </a:r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E</a:t>
            </a:r>
            <a:r>
              <a:rPr lang="zh-CN" altLang="en-US" sz="3200">
                <a:sym typeface="+mn-ea"/>
              </a:rPr>
              <a:t>与</a:t>
            </a:r>
            <a:r>
              <a:rPr lang="en-US" altLang="zh-CN" sz="3200">
                <a:sym typeface="+mn-ea"/>
              </a:rPr>
              <a:t>F</a:t>
            </a:r>
            <a:r>
              <a:rPr lang="zh-CN" altLang="en-US" sz="3200">
                <a:sym typeface="+mn-ea"/>
              </a:rPr>
              <a:t>相比，坡度较缓的是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65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。（填</a:t>
            </a:r>
            <a:r>
              <a:rPr lang="en-US" altLang="zh-CN" sz="3200">
                <a:sym typeface="+mn-ea"/>
              </a:rPr>
              <a:t>E/F</a:t>
            </a:r>
            <a:r>
              <a:rPr lang="zh-CN" altLang="en-US" sz="3200">
                <a:sym typeface="+mn-ea"/>
              </a:rPr>
              <a:t>）</a:t>
            </a:r>
            <a:endParaRPr lang="zh-CN" altLang="en-US" sz="32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41705" y="1630045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A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65475" y="3514725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B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52340" y="2807970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C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02530" y="4754245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D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51610" y="3514725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E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97655" y="3148330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F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835" y="1092835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G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66155" y="5275580"/>
            <a:ext cx="764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200</a:t>
            </a:r>
            <a:endParaRPr lang="en-US" altLang="zh-CN" sz="2800"/>
          </a:p>
        </p:txBody>
      </p:sp>
      <p:sp>
        <p:nvSpPr>
          <p:cNvPr id="31" name="文本框 30"/>
          <p:cNvSpPr txBox="1"/>
          <p:nvPr/>
        </p:nvSpPr>
        <p:spPr>
          <a:xfrm>
            <a:off x="6116955" y="4232275"/>
            <a:ext cx="764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300</a:t>
            </a:r>
            <a:endParaRPr lang="en-US" altLang="zh-CN" sz="2800"/>
          </a:p>
        </p:txBody>
      </p:sp>
      <p:sp>
        <p:nvSpPr>
          <p:cNvPr id="33" name="文本框 32"/>
          <p:cNvSpPr txBox="1"/>
          <p:nvPr/>
        </p:nvSpPr>
        <p:spPr>
          <a:xfrm>
            <a:off x="6162675" y="3679825"/>
            <a:ext cx="764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400</a:t>
            </a:r>
            <a:endParaRPr lang="en-US" altLang="zh-CN" sz="2800"/>
          </a:p>
        </p:txBody>
      </p:sp>
      <p:sp>
        <p:nvSpPr>
          <p:cNvPr id="37" name="文本框 36"/>
          <p:cNvSpPr txBox="1"/>
          <p:nvPr/>
        </p:nvSpPr>
        <p:spPr>
          <a:xfrm>
            <a:off x="6162675" y="2807970"/>
            <a:ext cx="764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500</a:t>
            </a:r>
            <a:endParaRPr lang="en-US" altLang="zh-CN" sz="2800"/>
          </a:p>
        </p:txBody>
      </p:sp>
      <p:sp>
        <p:nvSpPr>
          <p:cNvPr id="40" name="文本框 39"/>
          <p:cNvSpPr txBox="1"/>
          <p:nvPr/>
        </p:nvSpPr>
        <p:spPr>
          <a:xfrm>
            <a:off x="6162675" y="2084070"/>
            <a:ext cx="764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600</a:t>
            </a:r>
            <a:endParaRPr lang="en-US" altLang="zh-CN" sz="2800"/>
          </a:p>
        </p:txBody>
      </p:sp>
      <p:sp>
        <p:nvSpPr>
          <p:cNvPr id="41" name="文本框 40"/>
          <p:cNvSpPr txBox="1"/>
          <p:nvPr/>
        </p:nvSpPr>
        <p:spPr>
          <a:xfrm>
            <a:off x="5407025" y="2485390"/>
            <a:ext cx="764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700</a:t>
            </a:r>
            <a:endParaRPr lang="en-US" altLang="zh-CN" sz="2800"/>
          </a:p>
        </p:txBody>
      </p:sp>
      <p:sp>
        <p:nvSpPr>
          <p:cNvPr id="42" name="文本框 41"/>
          <p:cNvSpPr txBox="1"/>
          <p:nvPr/>
        </p:nvSpPr>
        <p:spPr>
          <a:xfrm>
            <a:off x="5175250" y="2084070"/>
            <a:ext cx="764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800</a:t>
            </a:r>
            <a:endParaRPr lang="en-US" altLang="zh-CN" sz="2800"/>
          </a:p>
        </p:txBody>
      </p:sp>
      <p:sp>
        <p:nvSpPr>
          <p:cNvPr id="43" name="文本框 42"/>
          <p:cNvSpPr txBox="1"/>
          <p:nvPr/>
        </p:nvSpPr>
        <p:spPr>
          <a:xfrm>
            <a:off x="4867275" y="1804670"/>
            <a:ext cx="764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900</a:t>
            </a:r>
            <a:endParaRPr lang="en-US" altLang="zh-CN" sz="2800"/>
          </a:p>
        </p:txBody>
      </p:sp>
      <p:sp>
        <p:nvSpPr>
          <p:cNvPr id="45" name="文本框 44"/>
          <p:cNvSpPr txBox="1"/>
          <p:nvPr/>
        </p:nvSpPr>
        <p:spPr>
          <a:xfrm>
            <a:off x="33655" y="613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*</a:t>
            </a:r>
            <a:r>
              <a:rPr lang="zh-CN" altLang="en-US"/>
              <a:t>单位：</a:t>
            </a:r>
            <a:r>
              <a:rPr lang="en-US" altLang="zh-CN"/>
              <a:t>m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/>
      <p:bldP spid="37" grpId="0"/>
      <p:bldP spid="40" grpId="0"/>
      <p:bldP spid="41" grpId="0"/>
      <p:bldP spid="42" grpId="0"/>
      <p:bldP spid="43" grpId="0"/>
      <p:bldP spid="33" grpId="0"/>
      <p:bldP spid="31" grpId="0"/>
      <p:bldP spid="26" grpId="0"/>
      <p:bldP spid="10" grpId="0"/>
      <p:bldP spid="11" grpId="0"/>
      <p:bldP spid="12" grpId="0"/>
      <p:bldP spid="13" grpId="0"/>
      <p:bldP spid="14" grpId="0"/>
      <p:bldP spid="37" grpId="1"/>
      <p:bldP spid="40" grpId="1"/>
      <p:bldP spid="41" grpId="1"/>
      <p:bldP spid="42" grpId="1"/>
      <p:bldP spid="43" grpId="1"/>
      <p:bldP spid="33" grpId="1"/>
      <p:bldP spid="31" grpId="1"/>
      <p:bldP spid="26" grpId="1"/>
      <p:bldP spid="8" grpId="1"/>
      <p:bldP spid="9" grpId="1"/>
      <p:bldP spid="10" grpId="1"/>
      <p:bldP spid="11" grpId="1"/>
      <p:bldP spid="12" grpId="1"/>
      <p:bldP spid="13" grpId="1"/>
      <p:bldP spid="14" grpId="1"/>
      <p:bldP spid="47" grpId="0"/>
      <p:bldP spid="4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任意多边形 8"/>
          <p:cNvSpPr/>
          <p:nvPr/>
        </p:nvSpPr>
        <p:spPr>
          <a:xfrm>
            <a:off x="1095375" y="1038019"/>
            <a:ext cx="10944225" cy="5366047"/>
          </a:xfrm>
          <a:custGeom>
            <a:avLst/>
            <a:gdLst>
              <a:gd name="connsiteX0" fmla="*/ 0 w 17235"/>
              <a:gd name="connsiteY0" fmla="*/ 4708 h 8450"/>
              <a:gd name="connsiteX1" fmla="*/ 65 w 17235"/>
              <a:gd name="connsiteY1" fmla="*/ 4595 h 8450"/>
              <a:gd name="connsiteX2" fmla="*/ 114 w 17235"/>
              <a:gd name="connsiteY2" fmla="*/ 4481 h 8450"/>
              <a:gd name="connsiteX3" fmla="*/ 211 w 17235"/>
              <a:gd name="connsiteY3" fmla="*/ 4368 h 8450"/>
              <a:gd name="connsiteX4" fmla="*/ 282 w 17235"/>
              <a:gd name="connsiteY4" fmla="*/ 4262 h 8450"/>
              <a:gd name="connsiteX5" fmla="*/ 394 w 17235"/>
              <a:gd name="connsiteY5" fmla="*/ 4162 h 8450"/>
              <a:gd name="connsiteX6" fmla="*/ 534 w 17235"/>
              <a:gd name="connsiteY6" fmla="*/ 4086 h 8450"/>
              <a:gd name="connsiteX7" fmla="*/ 902 w 17235"/>
              <a:gd name="connsiteY7" fmla="*/ 3995 h 8450"/>
              <a:gd name="connsiteX8" fmla="*/ 1158 w 17235"/>
              <a:gd name="connsiteY8" fmla="*/ 3975 h 8450"/>
              <a:gd name="connsiteX9" fmla="*/ 1587 w 17235"/>
              <a:gd name="connsiteY9" fmla="*/ 3996 h 8450"/>
              <a:gd name="connsiteX10" fmla="*/ 1700 w 17235"/>
              <a:gd name="connsiteY10" fmla="*/ 3996 h 8450"/>
              <a:gd name="connsiteX11" fmla="*/ 2684 w 17235"/>
              <a:gd name="connsiteY11" fmla="*/ 3931 h 8450"/>
              <a:gd name="connsiteX12" fmla="*/ 3040 w 17235"/>
              <a:gd name="connsiteY12" fmla="*/ 4032 h 8450"/>
              <a:gd name="connsiteX13" fmla="*/ 3168 w 17235"/>
              <a:gd name="connsiteY13" fmla="*/ 4068 h 8450"/>
              <a:gd name="connsiteX14" fmla="*/ 3254 w 17235"/>
              <a:gd name="connsiteY14" fmla="*/ 3996 h 8450"/>
              <a:gd name="connsiteX15" fmla="*/ 3304 w 17235"/>
              <a:gd name="connsiteY15" fmla="*/ 3889 h 8450"/>
              <a:gd name="connsiteX16" fmla="*/ 3348 w 17235"/>
              <a:gd name="connsiteY16" fmla="*/ 3760 h 8450"/>
              <a:gd name="connsiteX17" fmla="*/ 3384 w 17235"/>
              <a:gd name="connsiteY17" fmla="*/ 3656 h 8450"/>
              <a:gd name="connsiteX18" fmla="*/ 3449 w 17235"/>
              <a:gd name="connsiteY18" fmla="*/ 3542 h 8450"/>
              <a:gd name="connsiteX19" fmla="*/ 3530 w 17235"/>
              <a:gd name="connsiteY19" fmla="*/ 3672 h 8450"/>
              <a:gd name="connsiteX20" fmla="*/ 3530 w 17235"/>
              <a:gd name="connsiteY20" fmla="*/ 3785 h 8450"/>
              <a:gd name="connsiteX21" fmla="*/ 3548 w 17235"/>
              <a:gd name="connsiteY21" fmla="*/ 3913 h 8450"/>
              <a:gd name="connsiteX22" fmla="*/ 3564 w 17235"/>
              <a:gd name="connsiteY22" fmla="*/ 3985 h 8450"/>
              <a:gd name="connsiteX23" fmla="*/ 3624 w 17235"/>
              <a:gd name="connsiteY23" fmla="*/ 3797 h 8450"/>
              <a:gd name="connsiteX24" fmla="*/ 3644 w 17235"/>
              <a:gd name="connsiteY24" fmla="*/ 3665 h 8450"/>
              <a:gd name="connsiteX25" fmla="*/ 3692 w 17235"/>
              <a:gd name="connsiteY25" fmla="*/ 3445 h 8450"/>
              <a:gd name="connsiteX26" fmla="*/ 3708 w 17235"/>
              <a:gd name="connsiteY26" fmla="*/ 3219 h 8450"/>
              <a:gd name="connsiteX27" fmla="*/ 3736 w 17235"/>
              <a:gd name="connsiteY27" fmla="*/ 2975 h 8450"/>
              <a:gd name="connsiteX28" fmla="*/ 3772 w 17235"/>
              <a:gd name="connsiteY28" fmla="*/ 2765 h 8450"/>
              <a:gd name="connsiteX29" fmla="*/ 3836 w 17235"/>
              <a:gd name="connsiteY29" fmla="*/ 2173 h 8450"/>
              <a:gd name="connsiteX30" fmla="*/ 3886 w 17235"/>
              <a:gd name="connsiteY30" fmla="*/ 1956 h 8450"/>
              <a:gd name="connsiteX31" fmla="*/ 3918 w 17235"/>
              <a:gd name="connsiteY31" fmla="*/ 1486 h 8450"/>
              <a:gd name="connsiteX32" fmla="*/ 4031 w 17235"/>
              <a:gd name="connsiteY32" fmla="*/ 693 h 8450"/>
              <a:gd name="connsiteX33" fmla="*/ 4096 w 17235"/>
              <a:gd name="connsiteY33" fmla="*/ 450 h 8450"/>
              <a:gd name="connsiteX34" fmla="*/ 4180 w 17235"/>
              <a:gd name="connsiteY34" fmla="*/ 1 h 8450"/>
              <a:gd name="connsiteX35" fmla="*/ 4304 w 17235"/>
              <a:gd name="connsiteY35" fmla="*/ 427 h 8450"/>
              <a:gd name="connsiteX36" fmla="*/ 4388 w 17235"/>
              <a:gd name="connsiteY36" fmla="*/ 375 h 8450"/>
              <a:gd name="connsiteX37" fmla="*/ 4469 w 17235"/>
              <a:gd name="connsiteY37" fmla="*/ 288 h 8450"/>
              <a:gd name="connsiteX38" fmla="*/ 4588 w 17235"/>
              <a:gd name="connsiteY38" fmla="*/ 662 h 8450"/>
              <a:gd name="connsiteX39" fmla="*/ 4679 w 17235"/>
              <a:gd name="connsiteY39" fmla="*/ 1227 h 8450"/>
              <a:gd name="connsiteX40" fmla="*/ 4684 w 17235"/>
              <a:gd name="connsiteY40" fmla="*/ 1492 h 8450"/>
              <a:gd name="connsiteX41" fmla="*/ 4804 w 17235"/>
              <a:gd name="connsiteY41" fmla="*/ 2205 h 8450"/>
              <a:gd name="connsiteX42" fmla="*/ 5028 w 17235"/>
              <a:gd name="connsiteY42" fmla="*/ 3079 h 8450"/>
              <a:gd name="connsiteX43" fmla="*/ 5124 w 17235"/>
              <a:gd name="connsiteY43" fmla="*/ 3552 h 8450"/>
              <a:gd name="connsiteX44" fmla="*/ 5180 w 17235"/>
              <a:gd name="connsiteY44" fmla="*/ 4034 h 8450"/>
              <a:gd name="connsiteX45" fmla="*/ 5268 w 17235"/>
              <a:gd name="connsiteY45" fmla="*/ 4444 h 8450"/>
              <a:gd name="connsiteX46" fmla="*/ 5294 w 17235"/>
              <a:gd name="connsiteY46" fmla="*/ 4789 h 8450"/>
              <a:gd name="connsiteX47" fmla="*/ 5343 w 17235"/>
              <a:gd name="connsiteY47" fmla="*/ 4902 h 8450"/>
              <a:gd name="connsiteX48" fmla="*/ 5359 w 17235"/>
              <a:gd name="connsiteY48" fmla="*/ 5016 h 8450"/>
              <a:gd name="connsiteX49" fmla="*/ 5372 w 17235"/>
              <a:gd name="connsiteY49" fmla="*/ 5154 h 8450"/>
              <a:gd name="connsiteX50" fmla="*/ 5384 w 17235"/>
              <a:gd name="connsiteY50" fmla="*/ 5258 h 8450"/>
              <a:gd name="connsiteX51" fmla="*/ 5503 w 17235"/>
              <a:gd name="connsiteY51" fmla="*/ 5427 h 8450"/>
              <a:gd name="connsiteX52" fmla="*/ 5618 w 17235"/>
              <a:gd name="connsiteY52" fmla="*/ 5582 h 8450"/>
              <a:gd name="connsiteX53" fmla="*/ 5842 w 17235"/>
              <a:gd name="connsiteY53" fmla="*/ 5843 h 8450"/>
              <a:gd name="connsiteX54" fmla="*/ 6118 w 17235"/>
              <a:gd name="connsiteY54" fmla="*/ 5877 h 8450"/>
              <a:gd name="connsiteX55" fmla="*/ 6712 w 17235"/>
              <a:gd name="connsiteY55" fmla="*/ 5884 h 8450"/>
              <a:gd name="connsiteX56" fmla="*/ 7024 w 17235"/>
              <a:gd name="connsiteY56" fmla="*/ 5896 h 8450"/>
              <a:gd name="connsiteX57" fmla="*/ 7366 w 17235"/>
              <a:gd name="connsiteY57" fmla="*/ 5906 h 8450"/>
              <a:gd name="connsiteX58" fmla="*/ 7630 w 17235"/>
              <a:gd name="connsiteY58" fmla="*/ 5763 h 8450"/>
              <a:gd name="connsiteX59" fmla="*/ 7720 w 17235"/>
              <a:gd name="connsiteY59" fmla="*/ 5646 h 8450"/>
              <a:gd name="connsiteX60" fmla="*/ 7723 w 17235"/>
              <a:gd name="connsiteY60" fmla="*/ 5517 h 8450"/>
              <a:gd name="connsiteX61" fmla="*/ 7768 w 17235"/>
              <a:gd name="connsiteY61" fmla="*/ 5389 h 8450"/>
              <a:gd name="connsiteX62" fmla="*/ 7804 w 17235"/>
              <a:gd name="connsiteY62" fmla="*/ 5266 h 8450"/>
              <a:gd name="connsiteX63" fmla="*/ 7834 w 17235"/>
              <a:gd name="connsiteY63" fmla="*/ 5171 h 8450"/>
              <a:gd name="connsiteX64" fmla="*/ 7868 w 17235"/>
              <a:gd name="connsiteY64" fmla="*/ 5064 h 8450"/>
              <a:gd name="connsiteX65" fmla="*/ 7969 w 17235"/>
              <a:gd name="connsiteY65" fmla="*/ 5115 h 8450"/>
              <a:gd name="connsiteX66" fmla="*/ 8092 w 17235"/>
              <a:gd name="connsiteY66" fmla="*/ 5256 h 8450"/>
              <a:gd name="connsiteX67" fmla="*/ 8241 w 17235"/>
              <a:gd name="connsiteY67" fmla="*/ 5129 h 8450"/>
              <a:gd name="connsiteX68" fmla="*/ 8437 w 17235"/>
              <a:gd name="connsiteY68" fmla="*/ 4997 h 8450"/>
              <a:gd name="connsiteX69" fmla="*/ 8638 w 17235"/>
              <a:gd name="connsiteY69" fmla="*/ 5118 h 8450"/>
              <a:gd name="connsiteX70" fmla="*/ 8881 w 17235"/>
              <a:gd name="connsiteY70" fmla="*/ 5540 h 8450"/>
              <a:gd name="connsiteX71" fmla="*/ 9010 w 17235"/>
              <a:gd name="connsiteY71" fmla="*/ 5741 h 8450"/>
              <a:gd name="connsiteX72" fmla="*/ 9124 w 17235"/>
              <a:gd name="connsiteY72" fmla="*/ 5589 h 8450"/>
              <a:gd name="connsiteX73" fmla="*/ 9265 w 17235"/>
              <a:gd name="connsiteY73" fmla="*/ 5415 h 8450"/>
              <a:gd name="connsiteX74" fmla="*/ 9390 w 17235"/>
              <a:gd name="connsiteY74" fmla="*/ 5501 h 8450"/>
              <a:gd name="connsiteX75" fmla="*/ 9421 w 17235"/>
              <a:gd name="connsiteY75" fmla="*/ 5741 h 8450"/>
              <a:gd name="connsiteX76" fmla="*/ 9496 w 17235"/>
              <a:gd name="connsiteY76" fmla="*/ 6189 h 8450"/>
              <a:gd name="connsiteX77" fmla="*/ 9616 w 17235"/>
              <a:gd name="connsiteY77" fmla="*/ 6478 h 8450"/>
              <a:gd name="connsiteX78" fmla="*/ 9772 w 17235"/>
              <a:gd name="connsiteY78" fmla="*/ 6632 h 8450"/>
              <a:gd name="connsiteX79" fmla="*/ 9910 w 17235"/>
              <a:gd name="connsiteY79" fmla="*/ 6715 h 8450"/>
              <a:gd name="connsiteX80" fmla="*/ 10027 w 17235"/>
              <a:gd name="connsiteY80" fmla="*/ 6769 h 8450"/>
              <a:gd name="connsiteX81" fmla="*/ 10174 w 17235"/>
              <a:gd name="connsiteY81" fmla="*/ 6849 h 8450"/>
              <a:gd name="connsiteX82" fmla="*/ 10741 w 17235"/>
              <a:gd name="connsiteY82" fmla="*/ 6993 h 8450"/>
              <a:gd name="connsiteX83" fmla="*/ 11413 w 17235"/>
              <a:gd name="connsiteY83" fmla="*/ 7074 h 8450"/>
              <a:gd name="connsiteX84" fmla="*/ 12082 w 17235"/>
              <a:gd name="connsiteY84" fmla="*/ 7114 h 8450"/>
              <a:gd name="connsiteX85" fmla="*/ 13742 w 17235"/>
              <a:gd name="connsiteY85" fmla="*/ 7116 h 8450"/>
              <a:gd name="connsiteX86" fmla="*/ 14333 w 17235"/>
              <a:gd name="connsiteY86" fmla="*/ 7216 h 8450"/>
              <a:gd name="connsiteX87" fmla="*/ 15008 w 17235"/>
              <a:gd name="connsiteY87" fmla="*/ 7525 h 8450"/>
              <a:gd name="connsiteX88" fmla="*/ 15121 w 17235"/>
              <a:gd name="connsiteY88" fmla="*/ 7573 h 8450"/>
              <a:gd name="connsiteX89" fmla="*/ 15947 w 17235"/>
              <a:gd name="connsiteY89" fmla="*/ 8061 h 8450"/>
              <a:gd name="connsiteX90" fmla="*/ 16659 w 17235"/>
              <a:gd name="connsiteY90" fmla="*/ 8324 h 8450"/>
              <a:gd name="connsiteX91" fmla="*/ 17235 w 17235"/>
              <a:gd name="connsiteY91" fmla="*/ 8450 h 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7235" h="8450">
                <a:moveTo>
                  <a:pt x="0" y="4708"/>
                </a:moveTo>
                <a:cubicBezTo>
                  <a:pt x="12" y="4688"/>
                  <a:pt x="42" y="4640"/>
                  <a:pt x="65" y="4595"/>
                </a:cubicBezTo>
                <a:cubicBezTo>
                  <a:pt x="88" y="4550"/>
                  <a:pt x="85" y="4526"/>
                  <a:pt x="114" y="4481"/>
                </a:cubicBezTo>
                <a:cubicBezTo>
                  <a:pt x="143" y="4436"/>
                  <a:pt x="169" y="4407"/>
                  <a:pt x="211" y="4368"/>
                </a:cubicBezTo>
                <a:cubicBezTo>
                  <a:pt x="253" y="4329"/>
                  <a:pt x="237" y="4294"/>
                  <a:pt x="282" y="4262"/>
                </a:cubicBezTo>
                <a:cubicBezTo>
                  <a:pt x="327" y="4230"/>
                  <a:pt x="349" y="4191"/>
                  <a:pt x="394" y="4162"/>
                </a:cubicBezTo>
                <a:cubicBezTo>
                  <a:pt x="439" y="4133"/>
                  <a:pt x="489" y="4099"/>
                  <a:pt x="534" y="4086"/>
                </a:cubicBezTo>
                <a:cubicBezTo>
                  <a:pt x="579" y="4073"/>
                  <a:pt x="857" y="4005"/>
                  <a:pt x="902" y="3995"/>
                </a:cubicBezTo>
                <a:cubicBezTo>
                  <a:pt x="947" y="3985"/>
                  <a:pt x="1113" y="3991"/>
                  <a:pt x="1158" y="3975"/>
                </a:cubicBezTo>
                <a:cubicBezTo>
                  <a:pt x="1203" y="3959"/>
                  <a:pt x="1542" y="4002"/>
                  <a:pt x="1587" y="3996"/>
                </a:cubicBezTo>
                <a:cubicBezTo>
                  <a:pt x="1632" y="3990"/>
                  <a:pt x="1655" y="3996"/>
                  <a:pt x="1700" y="3996"/>
                </a:cubicBezTo>
                <a:cubicBezTo>
                  <a:pt x="1745" y="3996"/>
                  <a:pt x="2639" y="3928"/>
                  <a:pt x="2684" y="3931"/>
                </a:cubicBezTo>
                <a:cubicBezTo>
                  <a:pt x="2729" y="3934"/>
                  <a:pt x="2991" y="4022"/>
                  <a:pt x="3040" y="4032"/>
                </a:cubicBezTo>
                <a:cubicBezTo>
                  <a:pt x="3089" y="4042"/>
                  <a:pt x="3136" y="4091"/>
                  <a:pt x="3168" y="4068"/>
                </a:cubicBezTo>
                <a:cubicBezTo>
                  <a:pt x="3200" y="4045"/>
                  <a:pt x="3241" y="4041"/>
                  <a:pt x="3254" y="3996"/>
                </a:cubicBezTo>
                <a:cubicBezTo>
                  <a:pt x="3267" y="3951"/>
                  <a:pt x="3291" y="3934"/>
                  <a:pt x="3304" y="3889"/>
                </a:cubicBezTo>
                <a:cubicBezTo>
                  <a:pt x="3317" y="3844"/>
                  <a:pt x="3325" y="3805"/>
                  <a:pt x="3348" y="3760"/>
                </a:cubicBezTo>
                <a:cubicBezTo>
                  <a:pt x="3371" y="3715"/>
                  <a:pt x="3358" y="3701"/>
                  <a:pt x="3384" y="3656"/>
                </a:cubicBezTo>
                <a:cubicBezTo>
                  <a:pt x="3410" y="3611"/>
                  <a:pt x="3420" y="3539"/>
                  <a:pt x="3449" y="3542"/>
                </a:cubicBezTo>
                <a:cubicBezTo>
                  <a:pt x="3478" y="3545"/>
                  <a:pt x="3514" y="3623"/>
                  <a:pt x="3530" y="3672"/>
                </a:cubicBezTo>
                <a:cubicBezTo>
                  <a:pt x="3546" y="3721"/>
                  <a:pt x="3527" y="3740"/>
                  <a:pt x="3530" y="3785"/>
                </a:cubicBezTo>
                <a:cubicBezTo>
                  <a:pt x="3533" y="3830"/>
                  <a:pt x="3522" y="3887"/>
                  <a:pt x="3548" y="3913"/>
                </a:cubicBezTo>
                <a:cubicBezTo>
                  <a:pt x="3574" y="3939"/>
                  <a:pt x="3535" y="4005"/>
                  <a:pt x="3564" y="3985"/>
                </a:cubicBezTo>
                <a:cubicBezTo>
                  <a:pt x="3593" y="3965"/>
                  <a:pt x="3617" y="3842"/>
                  <a:pt x="3624" y="3797"/>
                </a:cubicBezTo>
                <a:lnTo>
                  <a:pt x="3644" y="3665"/>
                </a:lnTo>
                <a:cubicBezTo>
                  <a:pt x="3644" y="3617"/>
                  <a:pt x="3692" y="3490"/>
                  <a:pt x="3692" y="3445"/>
                </a:cubicBezTo>
                <a:cubicBezTo>
                  <a:pt x="3692" y="3400"/>
                  <a:pt x="3705" y="3264"/>
                  <a:pt x="3708" y="3219"/>
                </a:cubicBezTo>
                <a:cubicBezTo>
                  <a:pt x="3711" y="3174"/>
                  <a:pt x="3733" y="3020"/>
                  <a:pt x="3736" y="2975"/>
                </a:cubicBezTo>
                <a:cubicBezTo>
                  <a:pt x="3739" y="2930"/>
                  <a:pt x="3753" y="2810"/>
                  <a:pt x="3772" y="2765"/>
                </a:cubicBezTo>
                <a:cubicBezTo>
                  <a:pt x="3791" y="2720"/>
                  <a:pt x="3836" y="2218"/>
                  <a:pt x="3836" y="2173"/>
                </a:cubicBezTo>
                <a:cubicBezTo>
                  <a:pt x="3836" y="2128"/>
                  <a:pt x="3886" y="2001"/>
                  <a:pt x="3886" y="1956"/>
                </a:cubicBezTo>
                <a:cubicBezTo>
                  <a:pt x="3886" y="1911"/>
                  <a:pt x="3912" y="1535"/>
                  <a:pt x="3918" y="1486"/>
                </a:cubicBezTo>
                <a:cubicBezTo>
                  <a:pt x="3924" y="1437"/>
                  <a:pt x="4018" y="738"/>
                  <a:pt x="4031" y="693"/>
                </a:cubicBezTo>
                <a:cubicBezTo>
                  <a:pt x="4044" y="648"/>
                  <a:pt x="4080" y="499"/>
                  <a:pt x="4096" y="450"/>
                </a:cubicBezTo>
                <a:cubicBezTo>
                  <a:pt x="4112" y="401"/>
                  <a:pt x="4144" y="30"/>
                  <a:pt x="4180" y="1"/>
                </a:cubicBezTo>
                <a:cubicBezTo>
                  <a:pt x="4216" y="-28"/>
                  <a:pt x="4281" y="382"/>
                  <a:pt x="4304" y="427"/>
                </a:cubicBezTo>
                <a:cubicBezTo>
                  <a:pt x="4327" y="472"/>
                  <a:pt x="4375" y="378"/>
                  <a:pt x="4388" y="375"/>
                </a:cubicBezTo>
                <a:cubicBezTo>
                  <a:pt x="4401" y="372"/>
                  <a:pt x="4450" y="337"/>
                  <a:pt x="4469" y="288"/>
                </a:cubicBezTo>
                <a:cubicBezTo>
                  <a:pt x="4488" y="239"/>
                  <a:pt x="4575" y="617"/>
                  <a:pt x="4588" y="662"/>
                </a:cubicBezTo>
                <a:cubicBezTo>
                  <a:pt x="4601" y="707"/>
                  <a:pt x="4676" y="1182"/>
                  <a:pt x="4679" y="1227"/>
                </a:cubicBezTo>
                <a:cubicBezTo>
                  <a:pt x="4682" y="1272"/>
                  <a:pt x="4674" y="1447"/>
                  <a:pt x="4684" y="1492"/>
                </a:cubicBezTo>
                <a:cubicBezTo>
                  <a:pt x="4698" y="1577"/>
                  <a:pt x="4798" y="2160"/>
                  <a:pt x="4804" y="2205"/>
                </a:cubicBezTo>
                <a:cubicBezTo>
                  <a:pt x="4810" y="2250"/>
                  <a:pt x="5028" y="3030"/>
                  <a:pt x="5028" y="3079"/>
                </a:cubicBezTo>
                <a:cubicBezTo>
                  <a:pt x="5028" y="3128"/>
                  <a:pt x="5118" y="3507"/>
                  <a:pt x="5124" y="3552"/>
                </a:cubicBezTo>
                <a:cubicBezTo>
                  <a:pt x="5130" y="3597"/>
                  <a:pt x="5164" y="3989"/>
                  <a:pt x="5180" y="4034"/>
                </a:cubicBezTo>
                <a:cubicBezTo>
                  <a:pt x="5196" y="4079"/>
                  <a:pt x="5255" y="4396"/>
                  <a:pt x="5268" y="4444"/>
                </a:cubicBezTo>
                <a:cubicBezTo>
                  <a:pt x="5281" y="4492"/>
                  <a:pt x="5275" y="4744"/>
                  <a:pt x="5294" y="4789"/>
                </a:cubicBezTo>
                <a:cubicBezTo>
                  <a:pt x="5313" y="4834"/>
                  <a:pt x="5330" y="4857"/>
                  <a:pt x="5343" y="4902"/>
                </a:cubicBezTo>
                <a:cubicBezTo>
                  <a:pt x="5356" y="4947"/>
                  <a:pt x="5346" y="4967"/>
                  <a:pt x="5359" y="5016"/>
                </a:cubicBezTo>
                <a:cubicBezTo>
                  <a:pt x="5372" y="5065"/>
                  <a:pt x="5356" y="5106"/>
                  <a:pt x="5372" y="5154"/>
                </a:cubicBezTo>
                <a:cubicBezTo>
                  <a:pt x="5388" y="5202"/>
                  <a:pt x="5374" y="5213"/>
                  <a:pt x="5384" y="5258"/>
                </a:cubicBezTo>
                <a:cubicBezTo>
                  <a:pt x="5394" y="5303"/>
                  <a:pt x="5471" y="5385"/>
                  <a:pt x="5503" y="5427"/>
                </a:cubicBezTo>
                <a:cubicBezTo>
                  <a:pt x="5535" y="5469"/>
                  <a:pt x="5573" y="5546"/>
                  <a:pt x="5618" y="5582"/>
                </a:cubicBezTo>
                <a:cubicBezTo>
                  <a:pt x="5663" y="5618"/>
                  <a:pt x="5794" y="5820"/>
                  <a:pt x="5842" y="5843"/>
                </a:cubicBezTo>
                <a:cubicBezTo>
                  <a:pt x="5890" y="5866"/>
                  <a:pt x="6069" y="5858"/>
                  <a:pt x="6118" y="5877"/>
                </a:cubicBezTo>
                <a:cubicBezTo>
                  <a:pt x="6167" y="5896"/>
                  <a:pt x="6667" y="5868"/>
                  <a:pt x="6712" y="5884"/>
                </a:cubicBezTo>
                <a:cubicBezTo>
                  <a:pt x="6757" y="5900"/>
                  <a:pt x="6979" y="5896"/>
                  <a:pt x="7024" y="5896"/>
                </a:cubicBezTo>
                <a:cubicBezTo>
                  <a:pt x="7069" y="5896"/>
                  <a:pt x="7317" y="5916"/>
                  <a:pt x="7366" y="5906"/>
                </a:cubicBezTo>
                <a:cubicBezTo>
                  <a:pt x="7415" y="5896"/>
                  <a:pt x="7594" y="5812"/>
                  <a:pt x="7630" y="5763"/>
                </a:cubicBezTo>
                <a:cubicBezTo>
                  <a:pt x="7666" y="5714"/>
                  <a:pt x="7688" y="5695"/>
                  <a:pt x="7720" y="5646"/>
                </a:cubicBezTo>
                <a:cubicBezTo>
                  <a:pt x="7752" y="5597"/>
                  <a:pt x="7694" y="5562"/>
                  <a:pt x="7723" y="5517"/>
                </a:cubicBezTo>
                <a:cubicBezTo>
                  <a:pt x="7752" y="5472"/>
                  <a:pt x="7745" y="5434"/>
                  <a:pt x="7768" y="5389"/>
                </a:cubicBezTo>
                <a:cubicBezTo>
                  <a:pt x="7791" y="5344"/>
                  <a:pt x="7791" y="5311"/>
                  <a:pt x="7804" y="5266"/>
                </a:cubicBezTo>
                <a:cubicBezTo>
                  <a:pt x="7817" y="5221"/>
                  <a:pt x="7828" y="5216"/>
                  <a:pt x="7834" y="5171"/>
                </a:cubicBezTo>
                <a:cubicBezTo>
                  <a:pt x="7840" y="5126"/>
                  <a:pt x="7865" y="5109"/>
                  <a:pt x="7868" y="5064"/>
                </a:cubicBezTo>
                <a:cubicBezTo>
                  <a:pt x="7871" y="5019"/>
                  <a:pt x="7930" y="5086"/>
                  <a:pt x="7969" y="5115"/>
                </a:cubicBezTo>
                <a:cubicBezTo>
                  <a:pt x="8008" y="5144"/>
                  <a:pt x="8066" y="5211"/>
                  <a:pt x="8092" y="5256"/>
                </a:cubicBezTo>
                <a:cubicBezTo>
                  <a:pt x="8118" y="5301"/>
                  <a:pt x="8205" y="5145"/>
                  <a:pt x="8241" y="5129"/>
                </a:cubicBezTo>
                <a:cubicBezTo>
                  <a:pt x="8277" y="5113"/>
                  <a:pt x="8395" y="4987"/>
                  <a:pt x="8437" y="4997"/>
                </a:cubicBezTo>
                <a:cubicBezTo>
                  <a:pt x="8479" y="5007"/>
                  <a:pt x="8612" y="5073"/>
                  <a:pt x="8638" y="5118"/>
                </a:cubicBezTo>
                <a:cubicBezTo>
                  <a:pt x="8664" y="5163"/>
                  <a:pt x="8849" y="5504"/>
                  <a:pt x="8881" y="5540"/>
                </a:cubicBezTo>
                <a:cubicBezTo>
                  <a:pt x="8913" y="5576"/>
                  <a:pt x="8965" y="5738"/>
                  <a:pt x="9010" y="5741"/>
                </a:cubicBezTo>
                <a:cubicBezTo>
                  <a:pt x="9055" y="5744"/>
                  <a:pt x="9079" y="5618"/>
                  <a:pt x="9124" y="5589"/>
                </a:cubicBezTo>
                <a:cubicBezTo>
                  <a:pt x="9169" y="5560"/>
                  <a:pt x="9229" y="5451"/>
                  <a:pt x="9265" y="5415"/>
                </a:cubicBezTo>
                <a:cubicBezTo>
                  <a:pt x="9301" y="5379"/>
                  <a:pt x="9361" y="5456"/>
                  <a:pt x="9390" y="5501"/>
                </a:cubicBezTo>
                <a:cubicBezTo>
                  <a:pt x="9419" y="5546"/>
                  <a:pt x="9398" y="5692"/>
                  <a:pt x="9421" y="5741"/>
                </a:cubicBezTo>
                <a:cubicBezTo>
                  <a:pt x="9444" y="5790"/>
                  <a:pt x="9477" y="6144"/>
                  <a:pt x="9496" y="6189"/>
                </a:cubicBezTo>
                <a:cubicBezTo>
                  <a:pt x="9515" y="6234"/>
                  <a:pt x="9608" y="6459"/>
                  <a:pt x="9616" y="6478"/>
                </a:cubicBezTo>
                <a:cubicBezTo>
                  <a:pt x="9624" y="6497"/>
                  <a:pt x="9743" y="6590"/>
                  <a:pt x="9772" y="6632"/>
                </a:cubicBezTo>
                <a:cubicBezTo>
                  <a:pt x="9801" y="6674"/>
                  <a:pt x="9861" y="6683"/>
                  <a:pt x="9910" y="6715"/>
                </a:cubicBezTo>
                <a:cubicBezTo>
                  <a:pt x="9959" y="6747"/>
                  <a:pt x="9978" y="6746"/>
                  <a:pt x="10027" y="6769"/>
                </a:cubicBezTo>
                <a:cubicBezTo>
                  <a:pt x="10076" y="6792"/>
                  <a:pt x="10129" y="6833"/>
                  <a:pt x="10174" y="6849"/>
                </a:cubicBezTo>
                <a:cubicBezTo>
                  <a:pt x="10219" y="6865"/>
                  <a:pt x="10696" y="6990"/>
                  <a:pt x="10741" y="6993"/>
                </a:cubicBezTo>
                <a:cubicBezTo>
                  <a:pt x="10786" y="6996"/>
                  <a:pt x="11368" y="7064"/>
                  <a:pt x="11413" y="7074"/>
                </a:cubicBezTo>
                <a:cubicBezTo>
                  <a:pt x="11458" y="7084"/>
                  <a:pt x="11932" y="7093"/>
                  <a:pt x="12082" y="7114"/>
                </a:cubicBezTo>
                <a:cubicBezTo>
                  <a:pt x="12131" y="7117"/>
                  <a:pt x="13697" y="7122"/>
                  <a:pt x="13742" y="7116"/>
                </a:cubicBezTo>
                <a:cubicBezTo>
                  <a:pt x="13787" y="7110"/>
                  <a:pt x="14288" y="7184"/>
                  <a:pt x="14333" y="7216"/>
                </a:cubicBezTo>
                <a:cubicBezTo>
                  <a:pt x="14378" y="7248"/>
                  <a:pt x="14963" y="7502"/>
                  <a:pt x="15008" y="7525"/>
                </a:cubicBezTo>
                <a:cubicBezTo>
                  <a:pt x="15053" y="7548"/>
                  <a:pt x="15073" y="7567"/>
                  <a:pt x="15121" y="7573"/>
                </a:cubicBezTo>
                <a:cubicBezTo>
                  <a:pt x="15169" y="7579"/>
                  <a:pt x="15902" y="8038"/>
                  <a:pt x="15947" y="8061"/>
                </a:cubicBezTo>
                <a:cubicBezTo>
                  <a:pt x="15992" y="8084"/>
                  <a:pt x="16614" y="8311"/>
                  <a:pt x="16659" y="8324"/>
                </a:cubicBezTo>
                <a:cubicBezTo>
                  <a:pt x="16704" y="8337"/>
                  <a:pt x="17215" y="8444"/>
                  <a:pt x="17235" y="8450"/>
                </a:cubicBezTo>
              </a:path>
            </a:pathLst>
          </a:custGeom>
          <a:noFill/>
          <a:ln w="19050" cmpd="sng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078865" y="622935"/>
            <a:ext cx="12065" cy="5287645"/>
          </a:xfrm>
          <a:prstGeom prst="line">
            <a:avLst/>
          </a:prstGeom>
          <a:ln w="19050" cmpd="sng">
            <a:solidFill>
              <a:schemeClr val="tx1"/>
            </a:solidFill>
            <a:head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090930" y="5899150"/>
            <a:ext cx="11637645" cy="0"/>
          </a:xfrm>
          <a:prstGeom prst="line">
            <a:avLst/>
          </a:prstGeom>
          <a:ln w="190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96215" y="4006215"/>
            <a:ext cx="75057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500</a:t>
            </a:r>
            <a:endParaRPr lang="en-US" altLang="zh-CN" sz="2800"/>
          </a:p>
        </p:txBody>
      </p:sp>
      <p:sp>
        <p:nvSpPr>
          <p:cNvPr id="13" name="文本框 12"/>
          <p:cNvSpPr txBox="1"/>
          <p:nvPr/>
        </p:nvSpPr>
        <p:spPr>
          <a:xfrm>
            <a:off x="116205" y="2390140"/>
            <a:ext cx="97917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1000</a:t>
            </a:r>
            <a:endParaRPr lang="en-US" altLang="zh-CN" sz="2800"/>
          </a:p>
        </p:txBody>
      </p:sp>
      <p:sp>
        <p:nvSpPr>
          <p:cNvPr id="14" name="文本框 13"/>
          <p:cNvSpPr txBox="1"/>
          <p:nvPr/>
        </p:nvSpPr>
        <p:spPr>
          <a:xfrm>
            <a:off x="196215" y="5045075"/>
            <a:ext cx="75057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200</a:t>
            </a:r>
            <a:endParaRPr lang="en-US" altLang="zh-CN" sz="2800"/>
          </a:p>
        </p:txBody>
      </p:sp>
      <p:sp>
        <p:nvSpPr>
          <p:cNvPr id="15" name="文本框 14"/>
          <p:cNvSpPr txBox="1"/>
          <p:nvPr/>
        </p:nvSpPr>
        <p:spPr>
          <a:xfrm>
            <a:off x="421005" y="5622290"/>
            <a:ext cx="75057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0</a:t>
            </a:r>
            <a:endParaRPr lang="en-US" altLang="zh-CN" sz="2800"/>
          </a:p>
        </p:txBody>
      </p:sp>
      <p:sp>
        <p:nvSpPr>
          <p:cNvPr id="16" name="文本框 15"/>
          <p:cNvSpPr txBox="1"/>
          <p:nvPr/>
        </p:nvSpPr>
        <p:spPr>
          <a:xfrm>
            <a:off x="116205" y="100965"/>
            <a:ext cx="14319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海拔</a:t>
            </a:r>
            <a:r>
              <a:rPr lang="en-US" altLang="zh-CN" sz="2800"/>
              <a:t>/</a:t>
            </a:r>
            <a:r>
              <a:rPr lang="zh-CN" altLang="en-US" sz="2800"/>
              <a:t>米</a:t>
            </a:r>
            <a:endParaRPr lang="zh-CN" altLang="en-US" sz="2800"/>
          </a:p>
        </p:txBody>
      </p:sp>
      <p:sp>
        <p:nvSpPr>
          <p:cNvPr id="17" name="文本框 16"/>
          <p:cNvSpPr txBox="1"/>
          <p:nvPr/>
        </p:nvSpPr>
        <p:spPr>
          <a:xfrm>
            <a:off x="2003425" y="2907665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A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06495" y="429260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B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17135" y="4182110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C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17920" y="3614420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D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585200" y="4939030"/>
            <a:ext cx="473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F0000"/>
                </a:solidFill>
              </a:rPr>
              <a:t>E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77770" y="19685"/>
            <a:ext cx="971359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+mj-ea"/>
                <a:ea typeface="+mj-ea"/>
                <a:cs typeface="+mj-ea"/>
              </a:rPr>
              <a:t>第三节</a:t>
            </a:r>
            <a:r>
              <a:rPr lang="en-US" altLang="zh-CN" sz="32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3200">
                <a:latin typeface="+mj-ea"/>
                <a:ea typeface="+mj-ea"/>
                <a:cs typeface="+mj-ea"/>
              </a:rPr>
              <a:t>地图（地形剖面图）</a:t>
            </a:r>
            <a:endParaRPr lang="zh-CN" altLang="en-US" sz="3200">
              <a:latin typeface="+mj-ea"/>
              <a:ea typeface="+mj-ea"/>
              <a:cs typeface="+mj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048500" y="0"/>
            <a:ext cx="527748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200">
              <a:sym typeface="+mn-ea"/>
            </a:endParaRPr>
          </a:p>
          <a:p>
            <a:endParaRPr lang="en-US" altLang="zh-CN" sz="3200">
              <a:sym typeface="+mn-ea"/>
            </a:endParaRPr>
          </a:p>
          <a:p>
            <a:r>
              <a:rPr lang="en-US" altLang="zh-CN" sz="3200">
                <a:sym typeface="+mn-ea"/>
              </a:rPr>
              <a:t>A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66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B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67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C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68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D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69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；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E</a:t>
            </a:r>
            <a:r>
              <a:rPr lang="zh-CN" altLang="en-US" sz="3200">
                <a:sym typeface="+mn-ea"/>
              </a:rPr>
              <a:t>是</a:t>
            </a:r>
            <a:r>
              <a:rPr lang="zh-CN" altLang="en-US" sz="3200" u="sng">
                <a:sym typeface="+mn-ea"/>
              </a:rPr>
              <a:t>（</a:t>
            </a:r>
            <a:r>
              <a:rPr lang="en-US" altLang="zh-CN" sz="3200" u="sng">
                <a:sym typeface="+mn-ea"/>
              </a:rPr>
              <a:t>70</a:t>
            </a:r>
            <a:r>
              <a:rPr lang="zh-CN" altLang="en-US" sz="3200" u="sng">
                <a:sym typeface="+mn-ea"/>
              </a:rPr>
              <a:t>）</a:t>
            </a:r>
            <a:r>
              <a:rPr lang="zh-CN" altLang="en-US" sz="3200">
                <a:sym typeface="+mn-ea"/>
              </a:rPr>
              <a:t>。</a:t>
            </a:r>
            <a:endParaRPr lang="zh-CN" altLang="en-US" sz="3200">
              <a:sym typeface="+mn-ea"/>
            </a:endParaRPr>
          </a:p>
          <a:p>
            <a:r>
              <a:rPr lang="zh-CN" altLang="en-US" sz="3200">
                <a:sym typeface="+mn-ea"/>
              </a:rPr>
              <a:t>（填陆地地形）</a:t>
            </a:r>
            <a:endParaRPr lang="zh-CN" altLang="en-US" sz="3200"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/>
      <p:bldP spid="18" grpId="1"/>
      <p:bldP spid="19" grpId="1"/>
      <p:bldP spid="20" grpId="1"/>
      <p:bldP spid="21" grpId="1"/>
      <p:bldP spid="47" grpId="0"/>
      <p:bldP spid="4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913745" y="-635"/>
            <a:ext cx="12782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答案</a:t>
            </a:r>
            <a:endParaRPr lang="zh-CN" altLang="en-US" sz="4000" b="1"/>
          </a:p>
          <a:p>
            <a:r>
              <a:rPr lang="en-US" altLang="zh-CN" sz="4000" b="1">
                <a:sym typeface="+mn-ea"/>
              </a:rPr>
              <a:t>(1/3)</a:t>
            </a:r>
            <a:endParaRPr lang="zh-CN" altLang="en-US" sz="4000" b="1"/>
          </a:p>
        </p:txBody>
      </p:sp>
      <p:sp>
        <p:nvSpPr>
          <p:cNvPr id="3" name="文本框 2"/>
          <p:cNvSpPr txBox="1"/>
          <p:nvPr/>
        </p:nvSpPr>
        <p:spPr>
          <a:xfrm>
            <a:off x="0" y="-635"/>
            <a:ext cx="12192000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[1]</a:t>
            </a:r>
            <a:r>
              <a:rPr lang="en-US" altLang="zh-CN" sz="3200"/>
              <a:t>6371</a:t>
            </a:r>
            <a:r>
              <a:rPr lang="zh-CN" altLang="en-US" sz="3200"/>
              <a:t>（千米）</a:t>
            </a:r>
            <a:r>
              <a:rPr lang="en-US" altLang="zh-CN" sz="3200"/>
              <a:t>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[14]</a:t>
            </a:r>
            <a:r>
              <a:rPr lang="en-US" altLang="zh-CN" sz="3200">
                <a:sym typeface="+mn-ea"/>
              </a:rPr>
              <a:t>20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W</a:t>
            </a:r>
            <a:r>
              <a:rPr lang="zh-CN" altLang="en-US" sz="3200">
                <a:sym typeface="+mn-ea"/>
              </a:rPr>
              <a:t>（可与下互换）</a:t>
            </a:r>
            <a:endParaRPr lang="en-US" altLang="zh-CN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[2]</a:t>
            </a:r>
            <a:r>
              <a:rPr lang="en-US" altLang="zh-CN" sz="3200"/>
              <a:t>4</a:t>
            </a:r>
            <a:r>
              <a:rPr lang="zh-CN" altLang="en-US" sz="3200"/>
              <a:t>万（千米）</a:t>
            </a:r>
            <a:r>
              <a:rPr lang="en-US" altLang="zh-CN" sz="3200"/>
              <a:t>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[15]</a:t>
            </a:r>
            <a:r>
              <a:rPr lang="en-US" altLang="zh-CN" sz="3200">
                <a:sym typeface="+mn-ea"/>
              </a:rPr>
              <a:t>160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E</a:t>
            </a:r>
            <a:endParaRPr lang="en-US" altLang="zh-CN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[3]</a:t>
            </a:r>
            <a:r>
              <a:rPr lang="en-US" altLang="zh-CN" sz="3200"/>
              <a:t>5.1</a:t>
            </a:r>
            <a:r>
              <a:rPr lang="zh-CN" altLang="en-US" sz="3200"/>
              <a:t>亿（平方千米）</a:t>
            </a:r>
            <a:r>
              <a:rPr lang="en-US" altLang="zh-CN" sz="3200"/>
              <a:t>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[16]</a:t>
            </a:r>
            <a:r>
              <a:rPr lang="en-US" altLang="zh-CN" sz="3200">
                <a:sym typeface="+mn-ea"/>
              </a:rPr>
              <a:t>66.5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N</a:t>
            </a:r>
            <a:r>
              <a:rPr lang="zh-CN" altLang="en-US" sz="3200">
                <a:sym typeface="+mn-ea"/>
              </a:rPr>
              <a:t>【或</a:t>
            </a:r>
            <a:r>
              <a:rPr lang="en-US" altLang="zh-CN" sz="3200">
                <a:sym typeface="+mn-ea"/>
              </a:rPr>
              <a:t>66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34′N</a:t>
            </a:r>
            <a:r>
              <a:rPr lang="zh-CN" altLang="en-US" sz="3200">
                <a:sym typeface="+mn-ea"/>
              </a:rPr>
              <a:t>】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[4]</a:t>
            </a:r>
            <a:r>
              <a:rPr lang="zh-CN" altLang="en-US" sz="3200"/>
              <a:t>纬（线）</a:t>
            </a:r>
            <a:r>
              <a:rPr lang="en-US" altLang="zh-CN" sz="3200"/>
              <a:t>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[17]</a:t>
            </a:r>
            <a:r>
              <a:rPr lang="en-US" altLang="zh-CN" sz="3200">
                <a:sym typeface="+mn-ea"/>
              </a:rPr>
              <a:t>23.5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N</a:t>
            </a:r>
            <a:r>
              <a:rPr lang="zh-CN" altLang="en-US" sz="3200">
                <a:sym typeface="+mn-ea"/>
              </a:rPr>
              <a:t>【或</a:t>
            </a:r>
            <a:r>
              <a:rPr lang="en-US" altLang="zh-CN" sz="3200">
                <a:sym typeface="+mn-ea"/>
              </a:rPr>
              <a:t>23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26′N</a:t>
            </a:r>
            <a:r>
              <a:rPr lang="zh-CN" altLang="en-US" sz="3200">
                <a:sym typeface="+mn-ea"/>
              </a:rPr>
              <a:t>】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[5]</a:t>
            </a:r>
            <a:r>
              <a:rPr lang="zh-CN" altLang="en-US" sz="3200"/>
              <a:t>东西（方向）</a:t>
            </a:r>
            <a:r>
              <a:rPr lang="en-US" altLang="zh-CN" sz="3200"/>
              <a:t>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[18]</a:t>
            </a:r>
            <a:r>
              <a:rPr lang="en-US" altLang="zh-CN" sz="3200">
                <a:sym typeface="+mn-ea"/>
              </a:rPr>
              <a:t>23.5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S</a:t>
            </a:r>
            <a:r>
              <a:rPr lang="zh-CN" altLang="en-US" sz="3200">
                <a:sym typeface="+mn-ea"/>
              </a:rPr>
              <a:t>【或</a:t>
            </a:r>
            <a:r>
              <a:rPr lang="en-US" altLang="zh-CN" sz="3200">
                <a:sym typeface="+mn-ea"/>
              </a:rPr>
              <a:t>23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26′S</a:t>
            </a:r>
            <a:r>
              <a:rPr lang="zh-CN" altLang="en-US" sz="3200">
                <a:sym typeface="+mn-ea"/>
              </a:rPr>
              <a:t>】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[6]</a:t>
            </a:r>
            <a:r>
              <a:rPr lang="zh-CN" altLang="en-US" sz="3200"/>
              <a:t>经（线）</a:t>
            </a:r>
            <a:r>
              <a:rPr lang="en-US" altLang="zh-CN" sz="3200"/>
              <a:t>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[19]</a:t>
            </a:r>
            <a:r>
              <a:rPr lang="en-US" altLang="zh-CN" sz="3200">
                <a:sym typeface="+mn-ea"/>
              </a:rPr>
              <a:t>66.5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S</a:t>
            </a:r>
            <a:r>
              <a:rPr lang="zh-CN" altLang="en-US" sz="3200">
                <a:sym typeface="+mn-ea"/>
              </a:rPr>
              <a:t>【或</a:t>
            </a:r>
            <a:r>
              <a:rPr lang="en-US" altLang="zh-CN" sz="3200">
                <a:sym typeface="+mn-ea"/>
              </a:rPr>
              <a:t>66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34′S</a:t>
            </a:r>
            <a:r>
              <a:rPr lang="zh-CN" altLang="en-US" sz="3200">
                <a:sym typeface="+mn-ea"/>
              </a:rPr>
              <a:t>】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[7]</a:t>
            </a:r>
            <a:r>
              <a:rPr lang="zh-CN" altLang="en-US" sz="3200"/>
              <a:t>南北（方向）</a:t>
            </a:r>
            <a:r>
              <a:rPr lang="en-US" altLang="zh-CN" sz="3200"/>
              <a:t>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[20]</a:t>
            </a:r>
            <a:r>
              <a:rPr lang="en-US" altLang="zh-CN" sz="3200">
                <a:sym typeface="+mn-ea"/>
              </a:rPr>
              <a:t>0~30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[8]</a:t>
            </a:r>
            <a:r>
              <a:rPr lang="zh-CN" altLang="en-US" sz="3200"/>
              <a:t>赤道</a:t>
            </a:r>
            <a:r>
              <a:rPr lang="en-US" altLang="zh-CN" sz="3200"/>
              <a:t>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[21]</a:t>
            </a:r>
            <a:r>
              <a:rPr lang="en-US" altLang="zh-CN" sz="3200">
                <a:sym typeface="+mn-ea"/>
              </a:rPr>
              <a:t>30~60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[9]</a:t>
            </a:r>
            <a:r>
              <a:rPr lang="zh-CN" altLang="en-US" sz="3200"/>
              <a:t>本初子午线</a:t>
            </a:r>
            <a:r>
              <a:rPr lang="en-US" altLang="zh-CN" sz="3200"/>
              <a:t>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[22]</a:t>
            </a:r>
            <a:r>
              <a:rPr lang="en-US" altLang="zh-CN" sz="3200">
                <a:sym typeface="+mn-ea"/>
              </a:rPr>
              <a:t>60~90</a:t>
            </a:r>
            <a:endParaRPr lang="en-US" altLang="zh-CN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[10]</a:t>
            </a:r>
            <a:r>
              <a:rPr lang="en-US" altLang="zh-CN" sz="3200"/>
              <a:t>N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[23]</a:t>
            </a:r>
            <a:r>
              <a:rPr lang="zh-CN" altLang="en-US" sz="3200">
                <a:sym typeface="+mn-ea"/>
              </a:rPr>
              <a:t>自转</a:t>
            </a:r>
            <a:endParaRPr lang="en-US" altLang="zh-CN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[11]</a:t>
            </a:r>
            <a:r>
              <a:rPr lang="en-US" altLang="zh-CN" sz="3200"/>
              <a:t>S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[24]</a:t>
            </a:r>
            <a:r>
              <a:rPr lang="zh-CN" altLang="en-US" sz="3200">
                <a:sym typeface="+mn-ea"/>
              </a:rPr>
              <a:t>地轴</a:t>
            </a:r>
            <a:endParaRPr lang="en-US" altLang="zh-CN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[12]</a:t>
            </a:r>
            <a:r>
              <a:rPr lang="en-US" altLang="zh-CN" sz="3200"/>
              <a:t>W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[25]</a:t>
            </a:r>
            <a:r>
              <a:rPr lang="zh-CN" altLang="en-US" sz="3200">
                <a:sym typeface="+mn-ea"/>
              </a:rPr>
              <a:t>自西向东</a:t>
            </a:r>
            <a:endParaRPr lang="en-US" altLang="zh-CN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</a:rPr>
              <a:t>[13]</a:t>
            </a:r>
            <a:r>
              <a:rPr lang="en-US" altLang="zh-CN" sz="3200"/>
              <a:t>E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[26]</a:t>
            </a:r>
            <a:r>
              <a:rPr lang="zh-CN" altLang="en-US" sz="3200">
                <a:sym typeface="+mn-ea"/>
              </a:rPr>
              <a:t>一天【或约</a:t>
            </a:r>
            <a:r>
              <a:rPr lang="en-US" altLang="zh-CN" sz="3200">
                <a:sym typeface="+mn-ea"/>
              </a:rPr>
              <a:t>24</a:t>
            </a:r>
            <a:r>
              <a:rPr lang="zh-CN" altLang="en-US" sz="3200">
                <a:sym typeface="+mn-ea"/>
              </a:rPr>
              <a:t>小时</a:t>
            </a:r>
            <a:r>
              <a:rPr lang="en-US" altLang="zh-CN" sz="3200">
                <a:sym typeface="+mn-ea"/>
              </a:rPr>
              <a:t>/23</a:t>
            </a:r>
            <a:r>
              <a:rPr lang="zh-CN" altLang="en-US" sz="3200">
                <a:sym typeface="+mn-ea"/>
              </a:rPr>
              <a:t>小时</a:t>
            </a:r>
            <a:r>
              <a:rPr lang="en-US" altLang="zh-CN" sz="3200">
                <a:sym typeface="+mn-ea"/>
              </a:rPr>
              <a:t>56</a:t>
            </a:r>
            <a:r>
              <a:rPr lang="zh-CN" altLang="en-US" sz="3200">
                <a:sym typeface="+mn-ea"/>
              </a:rPr>
              <a:t>分</a:t>
            </a:r>
            <a:r>
              <a:rPr lang="en-US" altLang="zh-CN" sz="3200">
                <a:sym typeface="+mn-ea"/>
              </a:rPr>
              <a:t>4</a:t>
            </a:r>
            <a:r>
              <a:rPr lang="zh-CN" altLang="en-US" sz="3200">
                <a:sym typeface="+mn-ea"/>
              </a:rPr>
              <a:t>秒】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913745" y="0"/>
            <a:ext cx="12782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答案</a:t>
            </a:r>
            <a:endParaRPr lang="zh-CN" altLang="en-US" sz="4000" b="1"/>
          </a:p>
          <a:p>
            <a:r>
              <a:rPr lang="en-US" altLang="zh-CN" sz="4000" b="1">
                <a:sym typeface="+mn-ea"/>
              </a:rPr>
              <a:t>(2/3)</a:t>
            </a:r>
            <a:endParaRPr lang="zh-CN" altLang="en-US" sz="4000" b="1"/>
          </a:p>
        </p:txBody>
      </p:sp>
      <p:sp>
        <p:nvSpPr>
          <p:cNvPr id="3" name="文本框 2"/>
          <p:cNvSpPr txBox="1"/>
          <p:nvPr/>
        </p:nvSpPr>
        <p:spPr>
          <a:xfrm>
            <a:off x="0" y="0"/>
            <a:ext cx="12192000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[27]</a:t>
            </a:r>
            <a:r>
              <a:rPr lang="zh-CN" altLang="en-US" sz="3200">
                <a:sym typeface="+mn-ea"/>
              </a:rPr>
              <a:t>昼夜交替、日月星辰东升西落、时差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[28]</a:t>
            </a:r>
            <a:r>
              <a:rPr lang="zh-CN" altLang="en-US" sz="3200">
                <a:sym typeface="+mn-ea"/>
              </a:rPr>
              <a:t>晨（线）</a:t>
            </a:r>
            <a:r>
              <a:rPr lang="en-US" altLang="zh-CN" sz="3200">
                <a:sym typeface="+mn-ea"/>
              </a:rPr>
              <a:t>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[40]</a:t>
            </a:r>
            <a:r>
              <a:rPr lang="zh-CN" altLang="en-US" sz="3200">
                <a:sym typeface="+mn-ea"/>
              </a:rPr>
              <a:t>春分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[29]</a:t>
            </a:r>
            <a:r>
              <a:rPr lang="zh-CN" altLang="en-US" sz="3200">
                <a:sym typeface="+mn-ea"/>
              </a:rPr>
              <a:t>公转</a:t>
            </a:r>
            <a:r>
              <a:rPr lang="en-US" altLang="zh-CN" sz="3200">
                <a:sym typeface="+mn-ea"/>
              </a:rPr>
              <a:t>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[41]</a:t>
            </a:r>
            <a:r>
              <a:rPr lang="en-US" altLang="zh-CN" sz="3200">
                <a:sym typeface="+mn-ea"/>
              </a:rPr>
              <a:t>3</a:t>
            </a:r>
            <a:r>
              <a:rPr lang="zh-CN" altLang="en-US" sz="3200">
                <a:sym typeface="+mn-ea"/>
              </a:rPr>
              <a:t>月</a:t>
            </a:r>
            <a:r>
              <a:rPr lang="en-US" altLang="zh-CN" sz="3200">
                <a:sym typeface="+mn-ea"/>
              </a:rPr>
              <a:t>21</a:t>
            </a:r>
            <a:r>
              <a:rPr lang="zh-CN" altLang="en-US" sz="3200">
                <a:sym typeface="+mn-ea"/>
              </a:rPr>
              <a:t>日（前后）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[30]</a:t>
            </a:r>
            <a:r>
              <a:rPr lang="zh-CN" altLang="en-US" sz="3200">
                <a:sym typeface="+mn-ea"/>
              </a:rPr>
              <a:t>太阳</a:t>
            </a:r>
            <a:r>
              <a:rPr lang="en-US" altLang="zh-CN" sz="3200">
                <a:sym typeface="+mn-ea"/>
              </a:rPr>
              <a:t>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[42]</a:t>
            </a:r>
            <a:r>
              <a:rPr lang="zh-CN" altLang="en-US" sz="3200">
                <a:sym typeface="+mn-ea"/>
              </a:rPr>
              <a:t>短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[31]</a:t>
            </a:r>
            <a:r>
              <a:rPr lang="zh-CN" altLang="en-US" sz="3200">
                <a:sym typeface="+mn-ea"/>
              </a:rPr>
              <a:t>自西向东</a:t>
            </a:r>
            <a:r>
              <a:rPr lang="en-US" altLang="zh-CN" sz="3200">
                <a:sym typeface="+mn-ea"/>
              </a:rPr>
              <a:t>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[43]</a:t>
            </a:r>
            <a:r>
              <a:rPr lang="zh-CN" altLang="en-US" sz="3200">
                <a:sym typeface="+mn-ea"/>
              </a:rPr>
              <a:t>长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[32]</a:t>
            </a:r>
            <a:r>
              <a:rPr lang="zh-CN" altLang="en-US" sz="3200">
                <a:sym typeface="+mn-ea"/>
              </a:rPr>
              <a:t>一年【或</a:t>
            </a:r>
            <a:r>
              <a:rPr lang="en-US" altLang="zh-CN" sz="3200">
                <a:sym typeface="+mn-ea"/>
              </a:rPr>
              <a:t>365</a:t>
            </a:r>
            <a:r>
              <a:rPr lang="zh-CN" altLang="en-US" sz="3200">
                <a:sym typeface="+mn-ea"/>
              </a:rPr>
              <a:t>天或</a:t>
            </a:r>
            <a:r>
              <a:rPr lang="en-US" altLang="zh-CN" sz="3200">
                <a:sym typeface="+mn-ea"/>
              </a:rPr>
              <a:t>366</a:t>
            </a:r>
            <a:r>
              <a:rPr lang="zh-CN" altLang="en-US" sz="3200">
                <a:sym typeface="+mn-ea"/>
              </a:rPr>
              <a:t>天】</a:t>
            </a:r>
            <a:r>
              <a:rPr lang="en-US" altLang="zh-CN" sz="3200">
                <a:sym typeface="+mn-ea"/>
              </a:rPr>
              <a:t>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[44]</a:t>
            </a:r>
            <a:r>
              <a:rPr lang="zh-CN" altLang="en-US" sz="3200">
                <a:sym typeface="+mn-ea"/>
              </a:rPr>
              <a:t>长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[33]</a:t>
            </a:r>
            <a:r>
              <a:rPr lang="zh-CN" altLang="en-US" sz="3200">
                <a:sym typeface="+mn-ea"/>
              </a:rPr>
              <a:t>季节变化、昼夜长短变化、五代的划分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[34]</a:t>
            </a:r>
            <a:r>
              <a:rPr lang="zh-CN" altLang="en-US" sz="3200">
                <a:sym typeface="+mn-ea"/>
              </a:rPr>
              <a:t>夏至</a:t>
            </a:r>
            <a:r>
              <a:rPr lang="en-US" altLang="zh-CN" sz="3200">
                <a:sym typeface="+mn-ea"/>
              </a:rPr>
              <a:t>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[45]</a:t>
            </a:r>
            <a:r>
              <a:rPr lang="zh-CN" altLang="en-US" sz="3200">
                <a:sym typeface="+mn-ea"/>
              </a:rPr>
              <a:t>短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[35]</a:t>
            </a:r>
            <a:r>
              <a:rPr lang="en-US" altLang="zh-CN" sz="3200">
                <a:sym typeface="+mn-ea"/>
              </a:rPr>
              <a:t>6</a:t>
            </a:r>
            <a:r>
              <a:rPr lang="zh-CN" altLang="en-US" sz="3200">
                <a:sym typeface="+mn-ea"/>
              </a:rPr>
              <a:t>月</a:t>
            </a:r>
            <a:r>
              <a:rPr lang="en-US" altLang="zh-CN" sz="3200">
                <a:sym typeface="+mn-ea"/>
              </a:rPr>
              <a:t>22</a:t>
            </a:r>
            <a:r>
              <a:rPr lang="zh-CN" altLang="en-US" sz="3200">
                <a:sym typeface="+mn-ea"/>
              </a:rPr>
              <a:t>日（前后）</a:t>
            </a:r>
            <a:r>
              <a:rPr lang="en-US" altLang="zh-CN" sz="3200">
                <a:sym typeface="+mn-ea"/>
              </a:rPr>
              <a:t>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[46]</a:t>
            </a:r>
            <a:r>
              <a:rPr lang="zh-CN" altLang="en-US" sz="3200">
                <a:sym typeface="+mn-ea"/>
              </a:rPr>
              <a:t>北寒（带）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[36]</a:t>
            </a:r>
            <a:r>
              <a:rPr lang="zh-CN" altLang="en-US" sz="3200">
                <a:sym typeface="+mn-ea"/>
              </a:rPr>
              <a:t>秋分</a:t>
            </a:r>
            <a:r>
              <a:rPr lang="en-US" altLang="zh-CN" sz="3200">
                <a:sym typeface="+mn-ea"/>
              </a:rPr>
              <a:t>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[47]</a:t>
            </a:r>
            <a:r>
              <a:rPr lang="zh-CN" altLang="en-US" sz="3200">
                <a:sym typeface="+mn-ea"/>
              </a:rPr>
              <a:t>北温（带）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[37]</a:t>
            </a:r>
            <a:r>
              <a:rPr lang="en-US" altLang="zh-CN" sz="3200">
                <a:sym typeface="+mn-ea"/>
              </a:rPr>
              <a:t>9</a:t>
            </a:r>
            <a:r>
              <a:rPr lang="zh-CN" altLang="en-US" sz="3200">
                <a:sym typeface="+mn-ea"/>
              </a:rPr>
              <a:t>月</a:t>
            </a:r>
            <a:r>
              <a:rPr lang="en-US" altLang="zh-CN" sz="3200">
                <a:sym typeface="+mn-ea"/>
              </a:rPr>
              <a:t>23</a:t>
            </a:r>
            <a:r>
              <a:rPr lang="zh-CN" altLang="en-US" sz="3200">
                <a:sym typeface="+mn-ea"/>
              </a:rPr>
              <a:t>日（前后）</a:t>
            </a:r>
            <a:r>
              <a:rPr lang="en-US" altLang="zh-CN" sz="3200">
                <a:sym typeface="+mn-ea"/>
              </a:rPr>
              <a:t>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[48]</a:t>
            </a:r>
            <a:r>
              <a:rPr lang="zh-CN" altLang="en-US" sz="3200">
                <a:sym typeface="+mn-ea"/>
              </a:rPr>
              <a:t>热（带）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[38]</a:t>
            </a:r>
            <a:r>
              <a:rPr lang="zh-CN" altLang="en-US" sz="3200">
                <a:sym typeface="+mn-ea"/>
              </a:rPr>
              <a:t>冬至</a:t>
            </a:r>
            <a:r>
              <a:rPr lang="en-US" altLang="zh-CN" sz="3200">
                <a:sym typeface="+mn-ea"/>
              </a:rPr>
              <a:t>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[49]</a:t>
            </a:r>
            <a:r>
              <a:rPr lang="zh-CN" altLang="en-US" sz="3200">
                <a:sym typeface="+mn-ea"/>
              </a:rPr>
              <a:t>极昼、极夜（现象）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[39]</a:t>
            </a:r>
            <a:r>
              <a:rPr lang="en-US" altLang="zh-CN" sz="3200">
                <a:sym typeface="+mn-ea"/>
              </a:rPr>
              <a:t>12</a:t>
            </a:r>
            <a:r>
              <a:rPr lang="zh-CN" altLang="en-US" sz="3200">
                <a:sym typeface="+mn-ea"/>
              </a:rPr>
              <a:t>月</a:t>
            </a:r>
            <a:r>
              <a:rPr lang="en-US" altLang="zh-CN" sz="3200">
                <a:sym typeface="+mn-ea"/>
              </a:rPr>
              <a:t>22</a:t>
            </a:r>
            <a:r>
              <a:rPr lang="zh-CN" altLang="en-US" sz="3200">
                <a:sym typeface="+mn-ea"/>
              </a:rPr>
              <a:t>日（前后）</a:t>
            </a:r>
            <a:r>
              <a:rPr lang="en-US" altLang="zh-CN" sz="3200">
                <a:sym typeface="+mn-ea"/>
              </a:rPr>
              <a:t>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[50]</a:t>
            </a:r>
            <a:r>
              <a:rPr lang="zh-CN" altLang="en-US" sz="3200">
                <a:sym typeface="+mn-ea"/>
              </a:rPr>
              <a:t>方向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913745" y="0"/>
            <a:ext cx="12782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答案</a:t>
            </a:r>
            <a:r>
              <a:rPr lang="en-US" altLang="zh-CN" sz="4000" b="1"/>
              <a:t>(3/3)</a:t>
            </a:r>
            <a:endParaRPr lang="zh-CN" altLang="en-US" sz="4000" b="1"/>
          </a:p>
        </p:txBody>
      </p:sp>
      <p:sp>
        <p:nvSpPr>
          <p:cNvPr id="3" name="文本框 2"/>
          <p:cNvSpPr txBox="1"/>
          <p:nvPr/>
        </p:nvSpPr>
        <p:spPr>
          <a:xfrm>
            <a:off x="0" y="0"/>
            <a:ext cx="12192635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[51]</a:t>
            </a:r>
            <a:r>
              <a:rPr lang="zh-CN" altLang="en-US" sz="3200">
                <a:sym typeface="+mn-ea"/>
              </a:rPr>
              <a:t>比例尺</a:t>
            </a:r>
            <a:r>
              <a:rPr lang="en-US" altLang="zh-CN" sz="3200">
                <a:sym typeface="+mn-ea"/>
              </a:rPr>
              <a:t>	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[63]</a:t>
            </a:r>
            <a:r>
              <a:rPr lang="zh-CN" altLang="en-US" sz="3200">
                <a:sym typeface="+mn-ea"/>
              </a:rPr>
              <a:t>陡崖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[52]</a:t>
            </a:r>
            <a:r>
              <a:rPr lang="zh-CN" altLang="en-US" sz="3200">
                <a:sym typeface="+mn-ea"/>
              </a:rPr>
              <a:t>图例和注记</a:t>
            </a:r>
            <a:r>
              <a:rPr lang="en-US" altLang="zh-CN" sz="3200">
                <a:sym typeface="+mn-ea"/>
              </a:rPr>
              <a:t>	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[64]</a:t>
            </a:r>
            <a:r>
              <a:rPr lang="zh-CN" altLang="en-US" sz="3200">
                <a:sym typeface="+mn-ea"/>
              </a:rPr>
              <a:t>鞍部</a:t>
            </a:r>
            <a:endParaRPr lang="zh-CN" altLang="en-US" sz="3200">
              <a:sym typeface="+mn-ea"/>
            </a:endParaRPr>
          </a:p>
          <a:p>
            <a:pPr marL="3657600" lvl="8" indent="457200"/>
            <a:r>
              <a:rPr lang="en-US" altLang="zh-CN" sz="3200">
                <a:sym typeface="+mn-ea"/>
              </a:rPr>
              <a:t> 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[65]</a:t>
            </a:r>
            <a:r>
              <a:rPr lang="en-US" altLang="zh-CN" sz="3200">
                <a:sym typeface="+mn-ea"/>
              </a:rPr>
              <a:t>E</a:t>
            </a:r>
            <a:endParaRPr lang="zh-CN" altLang="en-US" sz="3200">
              <a:sym typeface="+mn-ea"/>
            </a:endParaRPr>
          </a:p>
          <a:p>
            <a:pPr marL="3657600" lvl="8" indent="457200"/>
            <a:r>
              <a:rPr lang="en-US" altLang="zh-CN" sz="3200">
                <a:sym typeface="+mn-ea"/>
              </a:rPr>
              <a:t> 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[66]</a:t>
            </a:r>
            <a:r>
              <a:rPr lang="zh-CN" altLang="en-US" sz="3200">
                <a:sym typeface="+mn-ea"/>
              </a:rPr>
              <a:t>高原</a:t>
            </a:r>
            <a:endParaRPr lang="zh-CN" altLang="en-US" sz="3200">
              <a:sym typeface="+mn-ea"/>
            </a:endParaRPr>
          </a:p>
          <a:p>
            <a:pPr marL="3657600" lvl="8" indent="457200"/>
            <a:r>
              <a:rPr lang="en-US" altLang="zh-CN" sz="3200">
                <a:sym typeface="+mn-ea"/>
              </a:rPr>
              <a:t> 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[67]</a:t>
            </a:r>
            <a:r>
              <a:rPr lang="zh-CN" altLang="en-US" sz="3200">
                <a:sym typeface="+mn-ea"/>
              </a:rPr>
              <a:t>山地</a:t>
            </a:r>
            <a:endParaRPr lang="zh-CN" altLang="en-US" sz="3200">
              <a:sym typeface="+mn-ea"/>
            </a:endParaRPr>
          </a:p>
          <a:p>
            <a:pPr marL="3657600" lvl="8" indent="457200"/>
            <a:r>
              <a:rPr lang="en-US" altLang="zh-CN" sz="3200">
                <a:sym typeface="+mn-ea"/>
              </a:rPr>
              <a:t> 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[68]</a:t>
            </a:r>
            <a:r>
              <a:rPr lang="zh-CN" altLang="en-US" sz="3200">
                <a:sym typeface="+mn-ea"/>
              </a:rPr>
              <a:t>盆地</a:t>
            </a:r>
            <a:endParaRPr lang="zh-CN" altLang="en-US" sz="3200">
              <a:sym typeface="+mn-ea"/>
            </a:endParaRPr>
          </a:p>
          <a:p>
            <a:pPr marL="3657600" lvl="8" indent="457200"/>
            <a:r>
              <a:rPr lang="en-US" altLang="zh-CN" sz="3200">
                <a:sym typeface="+mn-ea"/>
              </a:rPr>
              <a:t> 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[69]</a:t>
            </a:r>
            <a:r>
              <a:rPr lang="zh-CN" altLang="en-US" sz="3200">
                <a:sym typeface="+mn-ea"/>
              </a:rPr>
              <a:t>丘陵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[57]</a:t>
            </a:r>
            <a:r>
              <a:rPr lang="zh-CN" altLang="en-US" sz="3200">
                <a:sym typeface="+mn-ea"/>
              </a:rPr>
              <a:t>南（极）</a:t>
            </a:r>
            <a:r>
              <a:rPr lang="en-US" altLang="zh-CN" sz="3200"/>
              <a:t>						</a:t>
            </a:r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[70]</a:t>
            </a:r>
            <a:r>
              <a:rPr lang="zh-CN" altLang="en-US" sz="3200">
                <a:sym typeface="+mn-ea"/>
              </a:rPr>
              <a:t>平原</a:t>
            </a:r>
            <a:endParaRPr lang="en-US" altLang="zh-CN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[58]</a:t>
            </a:r>
            <a:r>
              <a:rPr lang="zh-CN" altLang="en-US" sz="3200">
                <a:sym typeface="+mn-ea"/>
              </a:rPr>
              <a:t>（</a:t>
            </a:r>
            <a:r>
              <a:rPr lang="en-US" altLang="zh-CN" sz="3200">
                <a:sym typeface="+mn-ea"/>
              </a:rPr>
              <a:t>60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S</a:t>
            </a:r>
            <a:r>
              <a:rPr lang="zh-CN" altLang="en-US" sz="3200">
                <a:sym typeface="+mn-ea"/>
              </a:rPr>
              <a:t>，</a:t>
            </a:r>
            <a:r>
              <a:rPr lang="en-US" altLang="zh-CN" sz="3200">
                <a:sym typeface="+mn-ea"/>
              </a:rPr>
              <a:t>45</a:t>
            </a:r>
            <a:r>
              <a:rPr lang="en-US" altLang="en-US" sz="3200">
                <a:sym typeface="+mn-ea"/>
              </a:rPr>
              <a:t>°</a:t>
            </a:r>
            <a:r>
              <a:rPr lang="en-US" altLang="zh-CN" sz="3200">
                <a:sym typeface="+mn-ea"/>
              </a:rPr>
              <a:t>W</a:t>
            </a:r>
            <a:r>
              <a:rPr lang="zh-CN" altLang="en-US" sz="3200">
                <a:sym typeface="+mn-ea"/>
              </a:rPr>
              <a:t>）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[59]</a:t>
            </a:r>
            <a:r>
              <a:rPr lang="zh-CN" altLang="en-US" sz="3200">
                <a:sym typeface="+mn-ea"/>
              </a:rPr>
              <a:t>西北（方向）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[60]</a:t>
            </a:r>
            <a:r>
              <a:rPr lang="zh-CN" altLang="en-US" sz="3200">
                <a:sym typeface="+mn-ea"/>
              </a:rPr>
              <a:t>山峰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[61]</a:t>
            </a:r>
            <a:r>
              <a:rPr lang="zh-CN" altLang="en-US" sz="3200">
                <a:sym typeface="+mn-ea"/>
              </a:rPr>
              <a:t>山谷</a:t>
            </a:r>
            <a:endParaRPr lang="zh-CN" altLang="en-US" sz="3200"/>
          </a:p>
          <a:p>
            <a:r>
              <a:rPr lang="en-US" altLang="zh-CN" sz="3200">
                <a:solidFill>
                  <a:schemeClr val="bg2">
                    <a:lumMod val="50000"/>
                  </a:schemeClr>
                </a:solidFill>
                <a:sym typeface="+mn-ea"/>
              </a:rPr>
              <a:t>[62]</a:t>
            </a:r>
            <a:r>
              <a:rPr lang="zh-CN" altLang="en-US" sz="3200">
                <a:sym typeface="+mn-ea"/>
              </a:rPr>
              <a:t>山脊</a:t>
            </a:r>
            <a:endParaRPr lang="zh-CN" altLang="en-US" sz="3200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0" y="1102995"/>
          <a:ext cx="5487035" cy="2076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2263140"/>
                <a:gridCol w="1829435"/>
              </a:tblGrid>
              <a:tr h="6451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大比例尺</a:t>
                      </a:r>
                      <a:endParaRPr lang="zh-CN" altLang="en-US" sz="320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小比例尺</a:t>
                      </a:r>
                      <a:endParaRPr lang="zh-CN" altLang="en-US" sz="320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715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范围</a:t>
                      </a:r>
                      <a:endParaRPr lang="zh-CN" altLang="en-US" sz="32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[53]</a:t>
                      </a:r>
                      <a:r>
                        <a:rPr lang="zh-CN" altLang="en-US" sz="3200"/>
                        <a:t>小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[54]</a:t>
                      </a:r>
                      <a:r>
                        <a:rPr lang="zh-CN" altLang="en-US" sz="3200"/>
                        <a:t>大</a:t>
                      </a:r>
                      <a:endParaRPr lang="zh-CN" altLang="en-US" sz="3200"/>
                    </a:p>
                  </a:txBody>
                  <a:tcPr/>
                </a:tc>
              </a:tr>
              <a:tr h="715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内容</a:t>
                      </a:r>
                      <a:endParaRPr lang="zh-CN" altLang="en-US" sz="32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[55]</a:t>
                      </a:r>
                      <a:r>
                        <a:rPr lang="zh-CN" altLang="en-US" sz="3200"/>
                        <a:t>详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[56]</a:t>
                      </a:r>
                      <a:r>
                        <a:rPr lang="zh-CN" altLang="en-US" sz="3200"/>
                        <a:t>略</a:t>
                      </a:r>
                      <a:endParaRPr lang="zh-CN" altLang="en-US" sz="3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913745" y="0"/>
            <a:ext cx="1278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参考</a:t>
            </a:r>
            <a:endParaRPr lang="zh-CN" altLang="en-US" sz="4000" b="1"/>
          </a:p>
        </p:txBody>
      </p:sp>
      <p:sp>
        <p:nvSpPr>
          <p:cNvPr id="4" name="文本框 3"/>
          <p:cNvSpPr txBox="1"/>
          <p:nvPr/>
        </p:nvSpPr>
        <p:spPr>
          <a:xfrm>
            <a:off x="0" y="0"/>
            <a:ext cx="12192000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700"/>
              <a:t>[1]</a:t>
            </a:r>
            <a:r>
              <a:rPr lang="zh-CN" altLang="en-US" sz="2700"/>
              <a:t>仁爱版地理课本七年级上册</a:t>
            </a:r>
            <a:r>
              <a:rPr lang="en-US" altLang="zh-CN" sz="2700"/>
              <a:t> P10~26</a:t>
            </a:r>
            <a:endParaRPr lang="en-US" altLang="zh-CN" sz="2700"/>
          </a:p>
          <a:p>
            <a:r>
              <a:rPr lang="en-US" altLang="zh-CN" sz="2700"/>
              <a:t>[2]https://www.dljs.net/dltp/shili/88912.html</a:t>
            </a:r>
            <a:endParaRPr lang="en-US" altLang="zh-CN" sz="2700"/>
          </a:p>
          <a:p>
            <a:r>
              <a:rPr lang="en-US" altLang="zh-CN" sz="2700"/>
              <a:t>[3]https://zhidao.baidu.com/question/2150107012731260628.html</a:t>
            </a:r>
            <a:endParaRPr lang="en-US" altLang="zh-CN" sz="2700"/>
          </a:p>
          <a:p>
            <a:r>
              <a:rPr lang="en-US" altLang="zh-CN" sz="2700">
                <a:sym typeface="+mn-ea"/>
              </a:rPr>
              <a:t>[4]https://www.mianfeiwendang.com/doc/bc19825b6848e34b143300093</a:t>
            </a:r>
            <a:endParaRPr lang="en-US" altLang="zh-CN" sz="2700"/>
          </a:p>
          <a:p>
            <a:r>
              <a:rPr lang="en-US" altLang="zh-CN" sz="2700"/>
              <a:t>[5]https://baike.baidu.com/item/%E4%B8%80%E5%B9%B4/8722493</a:t>
            </a:r>
            <a:endParaRPr lang="en-US" altLang="zh-CN" sz="2700"/>
          </a:p>
          <a:p>
            <a:r>
              <a:rPr lang="en-US" altLang="zh-CN" sz="2700"/>
              <a:t>[6]https://baike.baidu.com/item/%E5%9B%9E%E5%BD%92%E7%BA%BF/9443353</a:t>
            </a:r>
            <a:endParaRPr lang="en-US" altLang="zh-CN" sz="2700"/>
          </a:p>
          <a:p>
            <a:r>
              <a:rPr lang="en-US" altLang="zh-CN" sz="2700"/>
              <a:t>[7]https://baike.baidu.com/item/%E6%9E%81%E5%9C%88</a:t>
            </a:r>
            <a:endParaRPr lang="en-US" altLang="zh-CN" sz="2700"/>
          </a:p>
          <a:p>
            <a:r>
              <a:rPr lang="en-US" altLang="zh-CN" sz="2700"/>
              <a:t>[8]https://baike.baidu.com/item/%E5%9C%B0%E7%90%83%E5%85%AC%E8%BD%AC</a:t>
            </a:r>
            <a:endParaRPr lang="en-US" altLang="zh-CN" sz="2700"/>
          </a:p>
          <a:p>
            <a:r>
              <a:rPr lang="en-US" altLang="zh-CN" sz="2700"/>
              <a:t>[9]https://baike.baidu.com/item/%E5%9C%B0%E7%90%83%E8%BF%90%E5%8A%A8</a:t>
            </a:r>
            <a:endParaRPr lang="en-US" altLang="zh-CN" sz="2700"/>
          </a:p>
          <a:p>
            <a:r>
              <a:rPr lang="en-US" altLang="zh-CN" sz="2700"/>
              <a:t>[10]https://baike.baidu.com/item/%E7%9B%86%E5%9C%B0/346277</a:t>
            </a:r>
            <a:endParaRPr lang="en-US" altLang="zh-CN" sz="2700"/>
          </a:p>
          <a:p>
            <a:r>
              <a:rPr lang="en-US" altLang="zh-CN" sz="2700"/>
              <a:t>[11]https://huaban.com/pins/3762977751</a:t>
            </a:r>
            <a:endParaRPr lang="en-US" altLang="zh-CN" sz="2700"/>
          </a:p>
          <a:p>
            <a:r>
              <a:rPr lang="en-US" altLang="zh-CN" sz="2700"/>
              <a:t>[12]https://www.thepaper.cn/newsDetail_forward_10750264</a:t>
            </a:r>
            <a:endParaRPr lang="en-US" altLang="zh-CN" sz="2700"/>
          </a:p>
          <a:p>
            <a:r>
              <a:rPr lang="en-US" altLang="zh-CN" sz="2700"/>
              <a:t>[13]https://www.haoduoyun.cc/book/renaiban/dili/xt7s/24.shtml</a:t>
            </a:r>
            <a:endParaRPr lang="en-US" altLang="zh-CN" sz="2700"/>
          </a:p>
          <a:p>
            <a:r>
              <a:rPr lang="en-US" altLang="zh-CN" sz="2700"/>
              <a:t>[14]https://www.bilibili.com/video/av625445031</a:t>
            </a:r>
            <a:endParaRPr lang="en-US" altLang="zh-CN" sz="2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552*201"/>
  <p:tag name="TABLE_ENDDRAG_RECT" val="11*187*552*201"/>
</p:tagLst>
</file>

<file path=ppt/tags/tag2.xml><?xml version="1.0" encoding="utf-8"?>
<p:tagLst xmlns:p="http://schemas.openxmlformats.org/presentationml/2006/main">
  <p:tag name="TABLE_ENDDRAG_ORIGIN_RECT" val="432*163"/>
  <p:tag name="TABLE_ENDDRAG_RECT" val="0*95*432*163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2842</Words>
  <Application>WPS 演示</Application>
  <PresentationFormat>宽屏</PresentationFormat>
  <Paragraphs>371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邢 娟</cp:lastModifiedBy>
  <cp:revision>16</cp:revision>
  <dcterms:created xsi:type="dcterms:W3CDTF">2023-08-09T12:44:00Z</dcterms:created>
  <dcterms:modified xsi:type="dcterms:W3CDTF">2024-12-08T07:07:47Z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